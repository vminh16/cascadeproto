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240000" cy="8572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059811" y="72009"/>
            <a:ext cx="9120378" cy="2828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650" b="1" i="0">
                <a:solidFill>
                  <a:srgbClr val="222222"/>
                </a:solidFill>
                <a:latin typeface="Times New Roman"/>
              </a:rPr>
              <a:t>CascadeProto — our re-implementation (route A, full model: LMA + T = 4 EPPM + ADRM)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77562" y="359283"/>
            <a:ext cx="5484876" cy="1800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C62828"/>
                </a:solidFill>
                <a:latin typeface="Times New Roman"/>
              </a:rPr>
              <a:t>red notes = where our code differs from, or makes explicit, the paper's Fig.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5750" y="768286"/>
            <a:ext cx="581406" cy="2185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75" b="0" i="0">
                <a:solidFill>
                  <a:srgbClr val="EBA1A1"/>
                </a:solidFill>
                <a:latin typeface="Times New Roman"/>
              </a:rPr>
              <a:t>Audio: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04875" y="762000"/>
            <a:ext cx="904875" cy="266700"/>
          </a:xfrm>
          <a:prstGeom prst="roundRect">
            <a:avLst>
              <a:gd name="adj" fmla="val 21428"/>
            </a:avLst>
          </a:prstGeom>
          <a:solidFill>
            <a:srgbClr val="F7F7F7"/>
          </a:solidFill>
          <a:ln w="9525">
            <a:solidFill>
              <a:srgbClr val="D1D1D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9088" y="816674"/>
            <a:ext cx="526923" cy="1671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75" b="0" i="0">
                <a:solidFill>
                  <a:srgbClr val="9C9C9C"/>
                </a:solidFill>
                <a:latin typeface="Times New Roman"/>
              </a:rPr>
              <a:t>Whisper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5750" y="2101786"/>
            <a:ext cx="581406" cy="2185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75" b="0" i="0">
                <a:solidFill>
                  <a:srgbClr val="AAD4AC"/>
                </a:solidFill>
                <a:latin typeface="Times New Roman"/>
              </a:rPr>
              <a:t>Image: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4875" y="2095500"/>
            <a:ext cx="904875" cy="266700"/>
          </a:xfrm>
          <a:prstGeom prst="roundRect">
            <a:avLst>
              <a:gd name="adj" fmla="val 21428"/>
            </a:avLst>
          </a:prstGeom>
          <a:solidFill>
            <a:srgbClr val="F7F7F7"/>
          </a:solidFill>
          <a:ln w="9525">
            <a:solidFill>
              <a:srgbClr val="D1D1D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2505" y="2150174"/>
            <a:ext cx="720090" cy="1671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75" b="0" i="0">
                <a:solidFill>
                  <a:srgbClr val="9C9C9C"/>
                </a:solidFill>
                <a:latin typeface="Times New Roman"/>
              </a:rPr>
              <a:t>CLIP image</a:t>
            </a:r>
          </a:p>
        </p:txBody>
      </p:sp>
      <p:sp>
        <p:nvSpPr>
          <p:cNvPr id="10" name="Freeform 9"/>
          <p:cNvSpPr/>
          <p:nvPr/>
        </p:nvSpPr>
        <p:spPr>
          <a:xfrm>
            <a:off x="1809750" y="895350"/>
            <a:ext cx="904875" cy="438150"/>
          </a:xfrm>
          <a:custGeom>
            <a:avLst/>
            <a:gdLst/>
            <a:ahLst/>
            <a:cxnLst/>
            <a:rect l="l" t="t" r="r" b="b"/>
            <a:pathLst>
              <a:path w="904875" h="438150">
                <a:moveTo>
                  <a:pt x="0" y="0"/>
                </a:moveTo>
                <a:lnTo>
                  <a:pt x="89655" y="6802"/>
                </a:lnTo>
                <a:lnTo>
                  <a:pt x="169554" y="25841"/>
                </a:lnTo>
                <a:lnTo>
                  <a:pt x="241846" y="55066"/>
                </a:lnTo>
                <a:lnTo>
                  <a:pt x="308681" y="92428"/>
                </a:lnTo>
                <a:lnTo>
                  <a:pt x="372208" y="135875"/>
                </a:lnTo>
                <a:lnTo>
                  <a:pt x="434578" y="183356"/>
                </a:lnTo>
                <a:lnTo>
                  <a:pt x="497940" y="232822"/>
                </a:lnTo>
                <a:lnTo>
                  <a:pt x="564444" y="282222"/>
                </a:lnTo>
                <a:lnTo>
                  <a:pt x="636240" y="329505"/>
                </a:lnTo>
                <a:lnTo>
                  <a:pt x="715477" y="372622"/>
                </a:lnTo>
                <a:lnTo>
                  <a:pt x="804306" y="409520"/>
                </a:lnTo>
                <a:lnTo>
                  <a:pt x="904875" y="438150"/>
                </a:lnTo>
              </a:path>
            </a:pathLst>
          </a:custGeom>
          <a:noFill/>
          <a:ln w="9525">
            <a:solidFill>
              <a:srgbClr val="D9D9D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2612708" y="1270635"/>
            <a:ext cx="101917" cy="83820"/>
          </a:xfrm>
          <a:custGeom>
            <a:avLst/>
            <a:gdLst/>
            <a:ahLst/>
            <a:cxnLst/>
            <a:rect l="l" t="t" r="r" b="b"/>
            <a:pathLst>
              <a:path w="101917" h="83820">
                <a:moveTo>
                  <a:pt x="101917" y="62865"/>
                </a:moveTo>
                <a:lnTo>
                  <a:pt x="0" y="83820"/>
                </a:lnTo>
                <a:lnTo>
                  <a:pt x="18097" y="0"/>
                </a:lnTo>
                <a:lnTo>
                  <a:pt x="101917" y="62865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809750" y="1809750"/>
            <a:ext cx="904875" cy="419100"/>
          </a:xfrm>
          <a:custGeom>
            <a:avLst/>
            <a:gdLst/>
            <a:ahLst/>
            <a:cxnLst/>
            <a:rect l="l" t="t" r="r" b="b"/>
            <a:pathLst>
              <a:path w="904875" h="419100">
                <a:moveTo>
                  <a:pt x="0" y="419100"/>
                </a:moveTo>
                <a:lnTo>
                  <a:pt x="89655" y="412673"/>
                </a:lnTo>
                <a:lnTo>
                  <a:pt x="169554" y="394670"/>
                </a:lnTo>
                <a:lnTo>
                  <a:pt x="241846" y="367010"/>
                </a:lnTo>
                <a:lnTo>
                  <a:pt x="308681" y="331611"/>
                </a:lnTo>
                <a:lnTo>
                  <a:pt x="372208" y="290391"/>
                </a:lnTo>
                <a:lnTo>
                  <a:pt x="434578" y="245269"/>
                </a:lnTo>
                <a:lnTo>
                  <a:pt x="497940" y="198162"/>
                </a:lnTo>
                <a:lnTo>
                  <a:pt x="564444" y="150989"/>
                </a:lnTo>
                <a:lnTo>
                  <a:pt x="636240" y="105668"/>
                </a:lnTo>
                <a:lnTo>
                  <a:pt x="715477" y="64117"/>
                </a:lnTo>
                <a:lnTo>
                  <a:pt x="804306" y="28255"/>
                </a:lnTo>
                <a:lnTo>
                  <a:pt x="904875" y="0"/>
                </a:lnTo>
              </a:path>
            </a:pathLst>
          </a:custGeom>
          <a:noFill/>
          <a:ln w="9525">
            <a:solidFill>
              <a:srgbClr val="D9D9D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2612708" y="1788795"/>
            <a:ext cx="101917" cy="83820"/>
          </a:xfrm>
          <a:custGeom>
            <a:avLst/>
            <a:gdLst/>
            <a:ahLst/>
            <a:cxnLst/>
            <a:rect l="l" t="t" r="r" b="b"/>
            <a:pathLst>
              <a:path w="101917" h="83820">
                <a:moveTo>
                  <a:pt x="101917" y="20955"/>
                </a:moveTo>
                <a:lnTo>
                  <a:pt x="18097" y="83820"/>
                </a:lnTo>
                <a:lnTo>
                  <a:pt x="0" y="0"/>
                </a:lnTo>
                <a:lnTo>
                  <a:pt x="101917" y="20955"/>
                </a:lnTo>
                <a:close/>
              </a:path>
            </a:pathLst>
          </a:cu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5750" y="2497931"/>
            <a:ext cx="2924175" cy="1607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37" b="0" i="0">
                <a:solidFill>
                  <a:srgbClr val="C62828"/>
                </a:solidFill>
                <a:latin typeface="Times New Roman"/>
              </a:rPr>
              <a:t>audio / image: not in the initial reproduction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750" y="2650331"/>
            <a:ext cx="3729038" cy="16073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37" b="0" i="0">
                <a:solidFill>
                  <a:srgbClr val="C62828"/>
                </a:solidFill>
                <a:latin typeface="Times New Roman"/>
              </a:rPr>
              <a:t>(added later, class level only, D-47); one modality per run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5750" y="1358836"/>
            <a:ext cx="497205" cy="2185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75" b="0" i="0">
                <a:solidFill>
                  <a:srgbClr val="E09A5C"/>
                </a:solidFill>
                <a:latin typeface="Times New Roman"/>
              </a:rPr>
              <a:t>Text: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2000" y="1238250"/>
            <a:ext cx="1666875" cy="552450"/>
          </a:xfrm>
          <a:prstGeom prst="roundRect">
            <a:avLst>
              <a:gd name="adj" fmla="val 13793"/>
            </a:avLst>
          </a:prstGeom>
          <a:solidFill>
            <a:srgbClr val="B9C9EC"/>
          </a:solidFill>
          <a:ln w="19050">
            <a:solidFill>
              <a:srgbClr val="2C4A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129" y="1321498"/>
            <a:ext cx="1879092" cy="1671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75" b="0" i="0">
                <a:solidFill>
                  <a:srgbClr val="222222"/>
                </a:solidFill>
                <a:latin typeface="Times New Roman"/>
              </a:rPr>
              <a:t>"This point cloud represents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129" y="1473898"/>
            <a:ext cx="1879092" cy="1671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75" b="0" i="0">
                <a:solidFill>
                  <a:srgbClr val="222222"/>
                </a:solidFill>
                <a:latin typeface="Times New Roman"/>
              </a:rPr>
              <a:t>the {class}."  (+ background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324" y="1616774"/>
            <a:ext cx="1814703" cy="1671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75" b="0" i="0">
                <a:solidFill>
                  <a:srgbClr val="222222"/>
                </a:solidFill>
                <a:latin typeface="Times New Roman"/>
              </a:rPr>
              <a:t>row: "... the background.")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428875" y="1524000"/>
            <a:ext cx="285750" cy="0"/>
          </a:xfrm>
          <a:prstGeom prst="line">
            <a:avLst/>
          </a:prstGeom>
          <a:ln w="19050">
            <a:solidFill>
              <a:srgbClr val="3B6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Freeform 21"/>
          <p:cNvSpPr/>
          <p:nvPr/>
        </p:nvSpPr>
        <p:spPr>
          <a:xfrm>
            <a:off x="2600325" y="1472565"/>
            <a:ext cx="114300" cy="102870"/>
          </a:xfrm>
          <a:custGeom>
            <a:avLst/>
            <a:gdLst/>
            <a:ahLst/>
            <a:cxnLst/>
            <a:rect l="l" t="t" r="r" b="b"/>
            <a:pathLst>
              <a:path w="114300" h="102870">
                <a:moveTo>
                  <a:pt x="114300" y="51435"/>
                </a:moveTo>
                <a:lnTo>
                  <a:pt x="0" y="102870"/>
                </a:lnTo>
                <a:lnTo>
                  <a:pt x="0" y="0"/>
                </a:lnTo>
                <a:lnTo>
                  <a:pt x="114300" y="51435"/>
                </a:lnTo>
                <a:close/>
              </a:path>
            </a:pathLst>
          </a:custGeom>
          <a:solidFill>
            <a:srgbClr val="3B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2762250" y="952500"/>
            <a:ext cx="666750" cy="1190625"/>
          </a:xfrm>
          <a:custGeom>
            <a:avLst/>
            <a:gdLst/>
            <a:ahLst/>
            <a:cxnLst/>
            <a:rect l="l" t="t" r="r" b="b"/>
            <a:pathLst>
              <a:path w="666750" h="1190625">
                <a:moveTo>
                  <a:pt x="0" y="0"/>
                </a:moveTo>
                <a:lnTo>
                  <a:pt x="666750" y="238125"/>
                </a:lnTo>
                <a:lnTo>
                  <a:pt x="666750" y="952500"/>
                </a:lnTo>
                <a:lnTo>
                  <a:pt x="0" y="1190625"/>
                </a:lnTo>
                <a:lnTo>
                  <a:pt x="0" y="0"/>
                </a:lnTo>
                <a:close/>
              </a:path>
            </a:pathLst>
          </a:custGeom>
          <a:solidFill>
            <a:srgbClr val="C5E0B4"/>
          </a:solidFill>
          <a:ln w="190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 rot="5400000">
            <a:off x="2574608" y="1378268"/>
            <a:ext cx="1042035" cy="1928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25" b="0" i="0">
                <a:solidFill>
                  <a:srgbClr val="222222"/>
                </a:solidFill>
                <a:latin typeface="Times New Roman"/>
              </a:rPr>
              <a:t>CLIP ViT-B/16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16410" y="2221897"/>
            <a:ext cx="1158430" cy="1478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62" b="0" i="0">
                <a:solidFill>
                  <a:srgbClr val="C62828"/>
                </a:solidFill>
                <a:latin typeface="Times New Roman"/>
              </a:rPr>
              <a:t>frozen text encoder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429000" y="1543050"/>
            <a:ext cx="571500" cy="0"/>
          </a:xfrm>
          <a:prstGeom prst="line">
            <a:avLst/>
          </a:prstGeom>
          <a:ln w="19050">
            <a:solidFill>
              <a:srgbClr val="3B6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3886200" y="1491615"/>
            <a:ext cx="114300" cy="102870"/>
          </a:xfrm>
          <a:custGeom>
            <a:avLst/>
            <a:gdLst/>
            <a:ahLst/>
            <a:cxnLst/>
            <a:rect l="l" t="t" r="r" b="b"/>
            <a:pathLst>
              <a:path w="114300" h="102870">
                <a:moveTo>
                  <a:pt x="114300" y="51435"/>
                </a:moveTo>
                <a:lnTo>
                  <a:pt x="0" y="102870"/>
                </a:lnTo>
                <a:lnTo>
                  <a:pt x="0" y="0"/>
                </a:lnTo>
                <a:lnTo>
                  <a:pt x="114300" y="51435"/>
                </a:lnTo>
                <a:close/>
              </a:path>
            </a:pathLst>
          </a:custGeom>
          <a:solidFill>
            <a:srgbClr val="3B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2935" y="1283018"/>
            <a:ext cx="373380" cy="1928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25" b="0" i="0">
                <a:solidFill>
                  <a:srgbClr val="E09A5C"/>
                </a:solidFill>
                <a:latin typeface="Times New Roman"/>
              </a:rPr>
              <a:t>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34815" y="1464183"/>
            <a:ext cx="769620" cy="1800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  <a:latin typeface="Times New Roman"/>
              </a:rPr>
              <a:t>Embeddings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76319" y="1645539"/>
            <a:ext cx="1086612" cy="1543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222222"/>
                </a:solidFill>
                <a:latin typeface="Times New Roman"/>
              </a:rPr>
              <a:t>E_CLIP [N+1, 512]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191125" y="1543050"/>
            <a:ext cx="428625" cy="0"/>
          </a:xfrm>
          <a:prstGeom prst="line">
            <a:avLst/>
          </a:prstGeom>
          <a:ln w="19050">
            <a:solidFill>
              <a:srgbClr val="3B6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Freeform 31"/>
          <p:cNvSpPr/>
          <p:nvPr/>
        </p:nvSpPr>
        <p:spPr>
          <a:xfrm>
            <a:off x="5505450" y="1491615"/>
            <a:ext cx="114300" cy="102870"/>
          </a:xfrm>
          <a:custGeom>
            <a:avLst/>
            <a:gdLst/>
            <a:ahLst/>
            <a:cxnLst/>
            <a:rect l="l" t="t" r="r" b="b"/>
            <a:pathLst>
              <a:path w="114300" h="102870">
                <a:moveTo>
                  <a:pt x="114300" y="51435"/>
                </a:moveTo>
                <a:lnTo>
                  <a:pt x="0" y="102870"/>
                </a:lnTo>
                <a:lnTo>
                  <a:pt x="0" y="0"/>
                </a:lnTo>
                <a:lnTo>
                  <a:pt x="114300" y="51435"/>
                </a:lnTo>
                <a:close/>
              </a:path>
            </a:pathLst>
          </a:custGeom>
          <a:solidFill>
            <a:srgbClr val="3B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667375" y="1123950"/>
            <a:ext cx="1905000" cy="857250"/>
          </a:xfrm>
          <a:prstGeom prst="roundRect">
            <a:avLst>
              <a:gd name="adj" fmla="val 11111"/>
            </a:avLst>
          </a:prstGeom>
          <a:solidFill>
            <a:srgbClr val="F39DB4"/>
          </a:solidFill>
          <a:ln w="19050">
            <a:solidFill>
              <a:srgbClr val="8A1F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15940" y="1187768"/>
            <a:ext cx="2007870" cy="1928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25" b="0" i="0">
                <a:solidFill>
                  <a:srgbClr val="222222"/>
                </a:solidFill>
                <a:latin typeface="Times New Roman"/>
              </a:rPr>
              <a:t>Learnable Modality Adapter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98903" y="1412272"/>
            <a:ext cx="1841944" cy="1478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62" b="0" i="0">
                <a:solidFill>
                  <a:srgbClr val="222222"/>
                </a:solidFill>
                <a:latin typeface="Times New Roman"/>
              </a:rPr>
              <a:t>Adapter: Lin 512→128, LN, ReLU,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98261" y="1545622"/>
            <a:ext cx="1443228" cy="1478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62" b="0" i="0">
                <a:solidFill>
                  <a:srgbClr val="222222"/>
                </a:solidFill>
                <a:latin typeface="Times New Roman"/>
              </a:rPr>
              <a:t>Dropout 0.1, Lin 128→128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41943" y="1698022"/>
            <a:ext cx="1955864" cy="1478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62" b="0" i="0">
                <a:solidFill>
                  <a:srgbClr val="222222"/>
                </a:solidFill>
                <a:latin typeface="Times New Roman"/>
              </a:rPr>
              <a:t>Generator: MLP([E ; z]), 3 layers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0186" y="2040922"/>
            <a:ext cx="2639378" cy="1478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62" b="0" i="0">
                <a:solidFill>
                  <a:srgbClr val="C62828"/>
                </a:solidFill>
                <a:latin typeface="Times New Roman"/>
              </a:rPr>
              <a:t>z ~ N(0, I) in training, z = 0 at test (D-06)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572375" y="1543050"/>
            <a:ext cx="523875" cy="0"/>
          </a:xfrm>
          <a:prstGeom prst="line">
            <a:avLst/>
          </a:prstGeom>
          <a:ln w="19050">
            <a:solidFill>
              <a:srgbClr val="3B6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Freeform 39"/>
          <p:cNvSpPr/>
          <p:nvPr/>
        </p:nvSpPr>
        <p:spPr>
          <a:xfrm>
            <a:off x="7981950" y="1491615"/>
            <a:ext cx="114300" cy="102870"/>
          </a:xfrm>
          <a:custGeom>
            <a:avLst/>
            <a:gdLst/>
            <a:ahLst/>
            <a:cxnLst/>
            <a:rect l="l" t="t" r="r" b="b"/>
            <a:pathLst>
              <a:path w="114300" h="102870">
                <a:moveTo>
                  <a:pt x="114300" y="51435"/>
                </a:moveTo>
                <a:lnTo>
                  <a:pt x="0" y="102870"/>
                </a:lnTo>
                <a:lnTo>
                  <a:pt x="0" y="0"/>
                </a:lnTo>
                <a:lnTo>
                  <a:pt x="114300" y="51435"/>
                </a:lnTo>
                <a:close/>
              </a:path>
            </a:pathLst>
          </a:custGeom>
          <a:solidFill>
            <a:srgbClr val="3B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90560" y="854392"/>
            <a:ext cx="373380" cy="1928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25" b="0" i="0">
                <a:solidFill>
                  <a:srgbClr val="E09A5C"/>
                </a:solidFill>
                <a:latin typeface="Times New Roman"/>
              </a:rPr>
              <a:t>Text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15072" y="1026033"/>
            <a:ext cx="1324356" cy="1800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  <a:latin typeface="Times New Roman"/>
              </a:rPr>
              <a:t>Prototypes P_modal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10550" y="1390650"/>
            <a:ext cx="152400" cy="152400"/>
          </a:xfrm>
          <a:prstGeom prst="rect">
            <a:avLst/>
          </a:prstGeom>
          <a:solidFill>
            <a:srgbClr val="F7DCC0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8210550" y="1333500"/>
            <a:ext cx="209550" cy="57150"/>
          </a:xfrm>
          <a:custGeom>
            <a:avLst/>
            <a:gdLst/>
            <a:ahLst/>
            <a:cxnLst/>
            <a:rect l="l" t="t" r="r" b="b"/>
            <a:pathLst>
              <a:path w="209550" h="57150">
                <a:moveTo>
                  <a:pt x="0" y="57150"/>
                </a:moveTo>
                <a:lnTo>
                  <a:pt x="57150" y="0"/>
                </a:lnTo>
                <a:lnTo>
                  <a:pt x="209550" y="0"/>
                </a:lnTo>
                <a:lnTo>
                  <a:pt x="152400" y="57150"/>
                </a:lnTo>
                <a:lnTo>
                  <a:pt x="0" y="57150"/>
                </a:lnTo>
                <a:close/>
              </a:path>
            </a:pathLst>
          </a:custGeom>
          <a:solidFill>
            <a:srgbClr val="FBEADB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Freeform 44"/>
          <p:cNvSpPr/>
          <p:nvPr/>
        </p:nvSpPr>
        <p:spPr>
          <a:xfrm>
            <a:off x="8362950" y="1333500"/>
            <a:ext cx="57150" cy="209550"/>
          </a:xfrm>
          <a:custGeom>
            <a:avLst/>
            <a:gdLst/>
            <a:ahLst/>
            <a:cxnLst/>
            <a:rect l="l" t="t" r="r" b="b"/>
            <a:pathLst>
              <a:path w="57150" h="209550">
                <a:moveTo>
                  <a:pt x="0" y="57150"/>
                </a:moveTo>
                <a:lnTo>
                  <a:pt x="57150" y="0"/>
                </a:lnTo>
                <a:lnTo>
                  <a:pt x="57150" y="152400"/>
                </a:lnTo>
                <a:lnTo>
                  <a:pt x="0" y="209550"/>
                </a:lnTo>
                <a:lnTo>
                  <a:pt x="0" y="57150"/>
                </a:lnTo>
                <a:close/>
              </a:path>
            </a:pathLst>
          </a:custGeom>
          <a:solidFill>
            <a:srgbClr val="E8C8A8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362950" y="1390650"/>
            <a:ext cx="152400" cy="152400"/>
          </a:xfrm>
          <a:prstGeom prst="rect">
            <a:avLst/>
          </a:prstGeom>
          <a:solidFill>
            <a:srgbClr val="C9DCF2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Freeform 46"/>
          <p:cNvSpPr/>
          <p:nvPr/>
        </p:nvSpPr>
        <p:spPr>
          <a:xfrm>
            <a:off x="8362950" y="1333500"/>
            <a:ext cx="209550" cy="57150"/>
          </a:xfrm>
          <a:custGeom>
            <a:avLst/>
            <a:gdLst/>
            <a:ahLst/>
            <a:cxnLst/>
            <a:rect l="l" t="t" r="r" b="b"/>
            <a:pathLst>
              <a:path w="209550" h="57150">
                <a:moveTo>
                  <a:pt x="0" y="57150"/>
                </a:moveTo>
                <a:lnTo>
                  <a:pt x="57150" y="0"/>
                </a:lnTo>
                <a:lnTo>
                  <a:pt x="209550" y="0"/>
                </a:lnTo>
                <a:lnTo>
                  <a:pt x="152400" y="57150"/>
                </a:lnTo>
                <a:lnTo>
                  <a:pt x="0" y="57150"/>
                </a:lnTo>
                <a:close/>
              </a:path>
            </a:pathLst>
          </a:custGeom>
          <a:solidFill>
            <a:srgbClr val="E0EBF8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Freeform 47"/>
          <p:cNvSpPr/>
          <p:nvPr/>
        </p:nvSpPr>
        <p:spPr>
          <a:xfrm>
            <a:off x="8515350" y="1333500"/>
            <a:ext cx="57150" cy="209550"/>
          </a:xfrm>
          <a:custGeom>
            <a:avLst/>
            <a:gdLst/>
            <a:ahLst/>
            <a:cxnLst/>
            <a:rect l="l" t="t" r="r" b="b"/>
            <a:pathLst>
              <a:path w="57150" h="209550">
                <a:moveTo>
                  <a:pt x="0" y="57150"/>
                </a:moveTo>
                <a:lnTo>
                  <a:pt x="57150" y="0"/>
                </a:lnTo>
                <a:lnTo>
                  <a:pt x="57150" y="152400"/>
                </a:lnTo>
                <a:lnTo>
                  <a:pt x="0" y="209550"/>
                </a:lnTo>
                <a:lnTo>
                  <a:pt x="0" y="57150"/>
                </a:lnTo>
                <a:close/>
              </a:path>
            </a:pathLst>
          </a:custGeom>
          <a:solidFill>
            <a:srgbClr val="B2C9E6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515350" y="1390650"/>
            <a:ext cx="152400" cy="152400"/>
          </a:xfrm>
          <a:prstGeom prst="rect">
            <a:avLst/>
          </a:prstGeom>
          <a:solidFill>
            <a:srgbClr val="CFE8C4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Freeform 49"/>
          <p:cNvSpPr/>
          <p:nvPr/>
        </p:nvSpPr>
        <p:spPr>
          <a:xfrm>
            <a:off x="8515350" y="1333500"/>
            <a:ext cx="209550" cy="57150"/>
          </a:xfrm>
          <a:custGeom>
            <a:avLst/>
            <a:gdLst/>
            <a:ahLst/>
            <a:cxnLst/>
            <a:rect l="l" t="t" r="r" b="b"/>
            <a:pathLst>
              <a:path w="209550" h="57150">
                <a:moveTo>
                  <a:pt x="0" y="57150"/>
                </a:moveTo>
                <a:lnTo>
                  <a:pt x="57150" y="0"/>
                </a:lnTo>
                <a:lnTo>
                  <a:pt x="209550" y="0"/>
                </a:lnTo>
                <a:lnTo>
                  <a:pt x="152400" y="57150"/>
                </a:lnTo>
                <a:lnTo>
                  <a:pt x="0" y="57150"/>
                </a:lnTo>
                <a:close/>
              </a:path>
            </a:pathLst>
          </a:custGeom>
          <a:solidFill>
            <a:srgbClr val="E3F2DC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Freeform 50"/>
          <p:cNvSpPr/>
          <p:nvPr/>
        </p:nvSpPr>
        <p:spPr>
          <a:xfrm>
            <a:off x="8667750" y="1333500"/>
            <a:ext cx="57150" cy="209550"/>
          </a:xfrm>
          <a:custGeom>
            <a:avLst/>
            <a:gdLst/>
            <a:ahLst/>
            <a:cxnLst/>
            <a:rect l="l" t="t" r="r" b="b"/>
            <a:pathLst>
              <a:path w="57150" h="209550">
                <a:moveTo>
                  <a:pt x="0" y="57150"/>
                </a:moveTo>
                <a:lnTo>
                  <a:pt x="57150" y="0"/>
                </a:lnTo>
                <a:lnTo>
                  <a:pt x="57150" y="152400"/>
                </a:lnTo>
                <a:lnTo>
                  <a:pt x="0" y="209550"/>
                </a:lnTo>
                <a:lnTo>
                  <a:pt x="0" y="57150"/>
                </a:lnTo>
                <a:close/>
              </a:path>
            </a:pathLst>
          </a:custGeom>
          <a:solidFill>
            <a:srgbClr val="B6D7A8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210550" y="1638300"/>
            <a:ext cx="152400" cy="152400"/>
          </a:xfrm>
          <a:prstGeom prst="rect">
            <a:avLst/>
          </a:prstGeom>
          <a:solidFill>
            <a:srgbClr val="E53935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Freeform 52"/>
          <p:cNvSpPr/>
          <p:nvPr/>
        </p:nvSpPr>
        <p:spPr>
          <a:xfrm>
            <a:off x="8210550" y="1581150"/>
            <a:ext cx="209550" cy="57150"/>
          </a:xfrm>
          <a:custGeom>
            <a:avLst/>
            <a:gdLst/>
            <a:ahLst/>
            <a:cxnLst/>
            <a:rect l="l" t="t" r="r" b="b"/>
            <a:pathLst>
              <a:path w="209550" h="57150">
                <a:moveTo>
                  <a:pt x="0" y="57150"/>
                </a:moveTo>
                <a:lnTo>
                  <a:pt x="57150" y="0"/>
                </a:lnTo>
                <a:lnTo>
                  <a:pt x="209550" y="0"/>
                </a:lnTo>
                <a:lnTo>
                  <a:pt x="152400" y="57150"/>
                </a:lnTo>
                <a:lnTo>
                  <a:pt x="0" y="57150"/>
                </a:lnTo>
                <a:close/>
              </a:path>
            </a:pathLst>
          </a:custGeom>
          <a:solidFill>
            <a:srgbClr val="EF7A77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Freeform 53"/>
          <p:cNvSpPr/>
          <p:nvPr/>
        </p:nvSpPr>
        <p:spPr>
          <a:xfrm>
            <a:off x="8362950" y="1581150"/>
            <a:ext cx="57150" cy="209550"/>
          </a:xfrm>
          <a:custGeom>
            <a:avLst/>
            <a:gdLst/>
            <a:ahLst/>
            <a:cxnLst/>
            <a:rect l="l" t="t" r="r" b="b"/>
            <a:pathLst>
              <a:path w="57150" h="209550">
                <a:moveTo>
                  <a:pt x="0" y="57150"/>
                </a:moveTo>
                <a:lnTo>
                  <a:pt x="57150" y="0"/>
                </a:lnTo>
                <a:lnTo>
                  <a:pt x="57150" y="152400"/>
                </a:lnTo>
                <a:lnTo>
                  <a:pt x="0" y="209550"/>
                </a:lnTo>
                <a:lnTo>
                  <a:pt x="0" y="57150"/>
                </a:lnTo>
                <a:close/>
              </a:path>
            </a:pathLst>
          </a:custGeom>
          <a:solidFill>
            <a:srgbClr val="B71C1C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362950" y="1638300"/>
            <a:ext cx="152400" cy="152400"/>
          </a:xfrm>
          <a:prstGeom prst="rect">
            <a:avLst/>
          </a:prstGeom>
          <a:solidFill>
            <a:srgbClr val="43A047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Freeform 55"/>
          <p:cNvSpPr/>
          <p:nvPr/>
        </p:nvSpPr>
        <p:spPr>
          <a:xfrm>
            <a:off x="8362950" y="1581150"/>
            <a:ext cx="209550" cy="57150"/>
          </a:xfrm>
          <a:custGeom>
            <a:avLst/>
            <a:gdLst/>
            <a:ahLst/>
            <a:cxnLst/>
            <a:rect l="l" t="t" r="r" b="b"/>
            <a:pathLst>
              <a:path w="209550" h="57150">
                <a:moveTo>
                  <a:pt x="0" y="57150"/>
                </a:moveTo>
                <a:lnTo>
                  <a:pt x="57150" y="0"/>
                </a:lnTo>
                <a:lnTo>
                  <a:pt x="209550" y="0"/>
                </a:lnTo>
                <a:lnTo>
                  <a:pt x="152400" y="57150"/>
                </a:lnTo>
                <a:lnTo>
                  <a:pt x="0" y="57150"/>
                </a:lnTo>
                <a:close/>
              </a:path>
            </a:pathLst>
          </a:custGeom>
          <a:solidFill>
            <a:srgbClr val="7CC27F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Freeform 56"/>
          <p:cNvSpPr/>
          <p:nvPr/>
        </p:nvSpPr>
        <p:spPr>
          <a:xfrm>
            <a:off x="8515350" y="1581150"/>
            <a:ext cx="57150" cy="209550"/>
          </a:xfrm>
          <a:custGeom>
            <a:avLst/>
            <a:gdLst/>
            <a:ahLst/>
            <a:cxnLst/>
            <a:rect l="l" t="t" r="r" b="b"/>
            <a:pathLst>
              <a:path w="57150" h="209550">
                <a:moveTo>
                  <a:pt x="0" y="57150"/>
                </a:moveTo>
                <a:lnTo>
                  <a:pt x="57150" y="0"/>
                </a:lnTo>
                <a:lnTo>
                  <a:pt x="57150" y="152400"/>
                </a:lnTo>
                <a:lnTo>
                  <a:pt x="0" y="209550"/>
                </a:lnTo>
                <a:lnTo>
                  <a:pt x="0" y="57150"/>
                </a:lnTo>
                <a:close/>
              </a:path>
            </a:pathLst>
          </a:custGeom>
          <a:solidFill>
            <a:srgbClr val="2E7D32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515350" y="1638300"/>
            <a:ext cx="152400" cy="152400"/>
          </a:xfrm>
          <a:prstGeom prst="rect">
            <a:avLst/>
          </a:prstGeom>
          <a:solidFill>
            <a:srgbClr val="1E88E5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Freeform 58"/>
          <p:cNvSpPr/>
          <p:nvPr/>
        </p:nvSpPr>
        <p:spPr>
          <a:xfrm>
            <a:off x="8515350" y="1581150"/>
            <a:ext cx="209550" cy="57150"/>
          </a:xfrm>
          <a:custGeom>
            <a:avLst/>
            <a:gdLst/>
            <a:ahLst/>
            <a:cxnLst/>
            <a:rect l="l" t="t" r="r" b="b"/>
            <a:pathLst>
              <a:path w="209550" h="57150">
                <a:moveTo>
                  <a:pt x="0" y="57150"/>
                </a:moveTo>
                <a:lnTo>
                  <a:pt x="57150" y="0"/>
                </a:lnTo>
                <a:lnTo>
                  <a:pt x="209550" y="0"/>
                </a:lnTo>
                <a:lnTo>
                  <a:pt x="152400" y="57150"/>
                </a:lnTo>
                <a:lnTo>
                  <a:pt x="0" y="57150"/>
                </a:lnTo>
                <a:close/>
              </a:path>
            </a:pathLst>
          </a:custGeom>
          <a:solidFill>
            <a:srgbClr val="64B1EF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Freeform 59"/>
          <p:cNvSpPr/>
          <p:nvPr/>
        </p:nvSpPr>
        <p:spPr>
          <a:xfrm>
            <a:off x="8667750" y="1581150"/>
            <a:ext cx="57150" cy="209550"/>
          </a:xfrm>
          <a:custGeom>
            <a:avLst/>
            <a:gdLst/>
            <a:ahLst/>
            <a:cxnLst/>
            <a:rect l="l" t="t" r="r" b="b"/>
            <a:pathLst>
              <a:path w="57150" h="209550">
                <a:moveTo>
                  <a:pt x="0" y="57150"/>
                </a:moveTo>
                <a:lnTo>
                  <a:pt x="57150" y="0"/>
                </a:lnTo>
                <a:lnTo>
                  <a:pt x="57150" y="152400"/>
                </a:lnTo>
                <a:lnTo>
                  <a:pt x="0" y="209550"/>
                </a:lnTo>
                <a:lnTo>
                  <a:pt x="0" y="57150"/>
                </a:lnTo>
                <a:close/>
              </a:path>
            </a:pathLst>
          </a:custGeom>
          <a:solidFill>
            <a:srgbClr val="1565C0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154352" y="1869472"/>
            <a:ext cx="645795" cy="1478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62" b="0" i="0">
                <a:solidFill>
                  <a:srgbClr val="222222"/>
                </a:solidFill>
                <a:latin typeface="Times New Roman"/>
              </a:rPr>
              <a:t>[N+1, 128]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763000" y="1543050"/>
            <a:ext cx="523875" cy="0"/>
          </a:xfrm>
          <a:prstGeom prst="line">
            <a:avLst/>
          </a:prstGeom>
          <a:ln w="19050">
            <a:solidFill>
              <a:srgbClr val="3B6F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Freeform 62"/>
          <p:cNvSpPr/>
          <p:nvPr/>
        </p:nvSpPr>
        <p:spPr>
          <a:xfrm>
            <a:off x="9172575" y="1491615"/>
            <a:ext cx="114300" cy="102870"/>
          </a:xfrm>
          <a:custGeom>
            <a:avLst/>
            <a:gdLst/>
            <a:ahLst/>
            <a:cxnLst/>
            <a:rect l="l" t="t" r="r" b="b"/>
            <a:pathLst>
              <a:path w="114300" h="102870">
                <a:moveTo>
                  <a:pt x="114300" y="51435"/>
                </a:moveTo>
                <a:lnTo>
                  <a:pt x="0" y="102870"/>
                </a:lnTo>
                <a:lnTo>
                  <a:pt x="0" y="0"/>
                </a:lnTo>
                <a:lnTo>
                  <a:pt x="114300" y="51435"/>
                </a:lnTo>
                <a:close/>
              </a:path>
            </a:pathLst>
          </a:custGeom>
          <a:solidFill>
            <a:srgbClr val="3B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334500" y="1425321"/>
            <a:ext cx="190500" cy="2314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222222"/>
                </a:solidFill>
                <a:latin typeface="Times New Roman"/>
              </a:rPr>
              <a:t>ℒ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448800" y="1511998"/>
            <a:ext cx="333756" cy="1671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75" b="0" i="1">
                <a:solidFill>
                  <a:srgbClr val="222222"/>
                </a:solidFill>
                <a:latin typeface="Times New Roman"/>
              </a:rPr>
              <a:t>GMMN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334500" y="1698022"/>
            <a:ext cx="1500188" cy="1478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2" b="0" i="0">
                <a:solidFill>
                  <a:srgbClr val="C62828"/>
                </a:solidFill>
                <a:latin typeface="Times New Roman"/>
              </a:rPr>
              <a:t>squared MMD, σ ∈ {2,…,80}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34500" y="1840897"/>
            <a:ext cx="2069782" cy="1478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2" b="0" i="0">
                <a:solidFill>
                  <a:srgbClr val="C62828"/>
                </a:solidFill>
                <a:latin typeface="Times New Roman"/>
              </a:rPr>
              <a:t>bg 0.1 / fg 1.0, fg rows as ONE set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34500" y="1983772"/>
            <a:ext cx="1841944" cy="1478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2" b="0" i="0">
                <a:solidFill>
                  <a:srgbClr val="C62828"/>
                </a:solidFill>
                <a:latin typeface="Times New Roman"/>
              </a:rPr>
              <a:t>(no row ↔ class matching, D-04)</a:t>
            </a:r>
          </a:p>
        </p:txBody>
      </p:sp>
      <p:sp>
        <p:nvSpPr>
          <p:cNvPr id="69" name="Freeform 68"/>
          <p:cNvSpPr/>
          <p:nvPr/>
        </p:nvSpPr>
        <p:spPr>
          <a:xfrm>
            <a:off x="6286500" y="2019300"/>
            <a:ext cx="2190750" cy="1219200"/>
          </a:xfrm>
          <a:custGeom>
            <a:avLst/>
            <a:gdLst/>
            <a:ahLst/>
            <a:cxnLst/>
            <a:rect l="l" t="t" r="r" b="b"/>
            <a:pathLst>
              <a:path w="2190750" h="1219200">
                <a:moveTo>
                  <a:pt x="2190750" y="0"/>
                </a:moveTo>
                <a:lnTo>
                  <a:pt x="2190750" y="838200"/>
                </a:lnTo>
                <a:lnTo>
                  <a:pt x="0" y="838200"/>
                </a:lnTo>
                <a:lnTo>
                  <a:pt x="0" y="1219200"/>
                </a:lnTo>
              </a:path>
            </a:pathLst>
          </a:custGeom>
          <a:noFill/>
          <a:ln w="1714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Freeform 69"/>
          <p:cNvSpPr/>
          <p:nvPr/>
        </p:nvSpPr>
        <p:spPr>
          <a:xfrm>
            <a:off x="6239828" y="3135630"/>
            <a:ext cx="93344" cy="102870"/>
          </a:xfrm>
          <a:custGeom>
            <a:avLst/>
            <a:gdLst/>
            <a:ahLst/>
            <a:cxnLst/>
            <a:rect l="l" t="t" r="r" b="b"/>
            <a:pathLst>
              <a:path w="93344" h="102870">
                <a:moveTo>
                  <a:pt x="46672" y="102870"/>
                </a:moveTo>
                <a:lnTo>
                  <a:pt x="0" y="0"/>
                </a:lnTo>
                <a:lnTo>
                  <a:pt x="93344" y="0"/>
                </a:lnTo>
                <a:lnTo>
                  <a:pt x="46672" y="10287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Freeform 70"/>
          <p:cNvSpPr/>
          <p:nvPr/>
        </p:nvSpPr>
        <p:spPr>
          <a:xfrm>
            <a:off x="4857750" y="1905000"/>
            <a:ext cx="4429125" cy="1714500"/>
          </a:xfrm>
          <a:custGeom>
            <a:avLst/>
            <a:gdLst/>
            <a:ahLst/>
            <a:cxnLst/>
            <a:rect l="l" t="t" r="r" b="b"/>
            <a:pathLst>
              <a:path w="4429125" h="1714500">
                <a:moveTo>
                  <a:pt x="0" y="1714500"/>
                </a:moveTo>
                <a:lnTo>
                  <a:pt x="133532" y="1538883"/>
                </a:lnTo>
                <a:lnTo>
                  <a:pt x="377693" y="1389063"/>
                </a:lnTo>
                <a:lnTo>
                  <a:pt x="712143" y="1259086"/>
                </a:lnTo>
                <a:lnTo>
                  <a:pt x="1116542" y="1143000"/>
                </a:lnTo>
                <a:lnTo>
                  <a:pt x="1570550" y="1034852"/>
                </a:lnTo>
                <a:lnTo>
                  <a:pt x="2053828" y="928688"/>
                </a:lnTo>
                <a:lnTo>
                  <a:pt x="2546036" y="818555"/>
                </a:lnTo>
                <a:lnTo>
                  <a:pt x="3026833" y="698500"/>
                </a:lnTo>
                <a:lnTo>
                  <a:pt x="3475881" y="562570"/>
                </a:lnTo>
                <a:lnTo>
                  <a:pt x="3872839" y="404812"/>
                </a:lnTo>
                <a:lnTo>
                  <a:pt x="4197367" y="219273"/>
                </a:lnTo>
                <a:lnTo>
                  <a:pt x="4429125" y="0"/>
                </a:lnTo>
              </a:path>
            </a:pathLst>
          </a:custGeom>
          <a:noFill/>
          <a:ln w="11429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525000" y="2274380"/>
            <a:ext cx="2037588" cy="1414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25" b="0" i="0">
                <a:solidFill>
                  <a:srgbClr val="777777"/>
                </a:solidFill>
                <a:latin typeface="Times New Roman"/>
              </a:rPr>
              <a:t>(P_point also enters ℒ_GMMN, dashed)</a:t>
            </a:r>
          </a:p>
        </p:txBody>
      </p:sp>
      <p:sp>
        <p:nvSpPr>
          <p:cNvPr id="73" name="Rectangle 72"/>
          <p:cNvSpPr/>
          <p:nvPr/>
        </p:nvSpPr>
        <p:spPr>
          <a:xfrm>
            <a:off x="2190750" y="3286125"/>
            <a:ext cx="857250" cy="59055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362200" y="3543300"/>
            <a:ext cx="171450" cy="190500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2705100" y="3486150"/>
            <a:ext cx="209550" cy="247650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026539" y="3912108"/>
            <a:ext cx="1185672" cy="1800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  <a:latin typeface="Times New Roman"/>
              </a:rPr>
              <a:t>Support Mask Y^s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011680" y="4079272"/>
            <a:ext cx="1215390" cy="1478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62" b="0" i="0">
                <a:solidFill>
                  <a:srgbClr val="C62828"/>
                </a:solidFill>
                <a:latin typeface="Times New Roman"/>
              </a:rPr>
              <a:t>binary {0,1} per way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3048000" y="3581400"/>
            <a:ext cx="428625" cy="0"/>
          </a:xfrm>
          <a:prstGeom prst="line">
            <a:avLst/>
          </a:prstGeom>
          <a:ln w="1714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Freeform 78"/>
          <p:cNvSpPr/>
          <p:nvPr/>
        </p:nvSpPr>
        <p:spPr>
          <a:xfrm>
            <a:off x="3373755" y="3534728"/>
            <a:ext cx="102870" cy="93344"/>
          </a:xfrm>
          <a:custGeom>
            <a:avLst/>
            <a:gdLst/>
            <a:ahLst/>
            <a:cxnLst/>
            <a:rect l="l" t="t" r="r" b="b"/>
            <a:pathLst>
              <a:path w="102870" h="93344">
                <a:moveTo>
                  <a:pt x="102870" y="46672"/>
                </a:moveTo>
                <a:lnTo>
                  <a:pt x="0" y="93344"/>
                </a:lnTo>
                <a:lnTo>
                  <a:pt x="0" y="0"/>
                </a:lnTo>
                <a:lnTo>
                  <a:pt x="102870" y="46672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495675" y="3409950"/>
            <a:ext cx="342900" cy="3429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571875" y="3483102"/>
            <a:ext cx="190500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  <a:latin typeface="Times New Roman"/>
              </a:rPr>
              <a:t>M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193161" y="3226879"/>
            <a:ext cx="947928" cy="1414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25" b="0" i="0">
                <a:solidFill>
                  <a:srgbClr val="555555"/>
                </a:solidFill>
                <a:latin typeface="Times New Roman"/>
              </a:rPr>
              <a:t>masked avg. pool</a:t>
            </a:r>
          </a:p>
        </p:txBody>
      </p:sp>
      <p:cxnSp>
        <p:nvCxnSpPr>
          <p:cNvPr id="83" name="Connector 82"/>
          <p:cNvCxnSpPr/>
          <p:nvPr/>
        </p:nvCxnSpPr>
        <p:spPr>
          <a:xfrm>
            <a:off x="3838575" y="3581400"/>
            <a:ext cx="495300" cy="0"/>
          </a:xfrm>
          <a:prstGeom prst="line">
            <a:avLst/>
          </a:prstGeom>
          <a:ln w="1714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Freeform 83"/>
          <p:cNvSpPr/>
          <p:nvPr/>
        </p:nvSpPr>
        <p:spPr>
          <a:xfrm>
            <a:off x="4231005" y="3534728"/>
            <a:ext cx="102870" cy="93344"/>
          </a:xfrm>
          <a:custGeom>
            <a:avLst/>
            <a:gdLst/>
            <a:ahLst/>
            <a:cxnLst/>
            <a:rect l="l" t="t" r="r" b="b"/>
            <a:pathLst>
              <a:path w="102870" h="93344">
                <a:moveTo>
                  <a:pt x="102870" y="46672"/>
                </a:moveTo>
                <a:lnTo>
                  <a:pt x="0" y="93344"/>
                </a:lnTo>
                <a:lnTo>
                  <a:pt x="0" y="0"/>
                </a:lnTo>
                <a:lnTo>
                  <a:pt x="102870" y="46672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400550" y="3409950"/>
            <a:ext cx="152400" cy="152400"/>
          </a:xfrm>
          <a:prstGeom prst="rect">
            <a:avLst/>
          </a:prstGeom>
          <a:solidFill>
            <a:srgbClr val="F7DCC0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Freeform 85"/>
          <p:cNvSpPr/>
          <p:nvPr/>
        </p:nvSpPr>
        <p:spPr>
          <a:xfrm>
            <a:off x="4400550" y="3352800"/>
            <a:ext cx="209550" cy="57150"/>
          </a:xfrm>
          <a:custGeom>
            <a:avLst/>
            <a:gdLst/>
            <a:ahLst/>
            <a:cxnLst/>
            <a:rect l="l" t="t" r="r" b="b"/>
            <a:pathLst>
              <a:path w="209550" h="57150">
                <a:moveTo>
                  <a:pt x="0" y="57150"/>
                </a:moveTo>
                <a:lnTo>
                  <a:pt x="57150" y="0"/>
                </a:lnTo>
                <a:lnTo>
                  <a:pt x="209550" y="0"/>
                </a:lnTo>
                <a:lnTo>
                  <a:pt x="152400" y="57150"/>
                </a:lnTo>
                <a:lnTo>
                  <a:pt x="0" y="57150"/>
                </a:lnTo>
                <a:close/>
              </a:path>
            </a:pathLst>
          </a:custGeom>
          <a:solidFill>
            <a:srgbClr val="FBEADB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Freeform 86"/>
          <p:cNvSpPr/>
          <p:nvPr/>
        </p:nvSpPr>
        <p:spPr>
          <a:xfrm>
            <a:off x="4552950" y="3352800"/>
            <a:ext cx="57150" cy="209550"/>
          </a:xfrm>
          <a:custGeom>
            <a:avLst/>
            <a:gdLst/>
            <a:ahLst/>
            <a:cxnLst/>
            <a:rect l="l" t="t" r="r" b="b"/>
            <a:pathLst>
              <a:path w="57150" h="209550">
                <a:moveTo>
                  <a:pt x="0" y="57150"/>
                </a:moveTo>
                <a:lnTo>
                  <a:pt x="57150" y="0"/>
                </a:lnTo>
                <a:lnTo>
                  <a:pt x="57150" y="152400"/>
                </a:lnTo>
                <a:lnTo>
                  <a:pt x="0" y="209550"/>
                </a:lnTo>
                <a:lnTo>
                  <a:pt x="0" y="57150"/>
                </a:lnTo>
                <a:close/>
              </a:path>
            </a:pathLst>
          </a:custGeom>
          <a:solidFill>
            <a:srgbClr val="E8C8A8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4552950" y="3409950"/>
            <a:ext cx="152400" cy="152400"/>
          </a:xfrm>
          <a:prstGeom prst="rect">
            <a:avLst/>
          </a:prstGeom>
          <a:solidFill>
            <a:srgbClr val="C9DCF2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Freeform 88"/>
          <p:cNvSpPr/>
          <p:nvPr/>
        </p:nvSpPr>
        <p:spPr>
          <a:xfrm>
            <a:off x="4552950" y="3352800"/>
            <a:ext cx="209550" cy="57150"/>
          </a:xfrm>
          <a:custGeom>
            <a:avLst/>
            <a:gdLst/>
            <a:ahLst/>
            <a:cxnLst/>
            <a:rect l="l" t="t" r="r" b="b"/>
            <a:pathLst>
              <a:path w="209550" h="57150">
                <a:moveTo>
                  <a:pt x="0" y="57150"/>
                </a:moveTo>
                <a:lnTo>
                  <a:pt x="57150" y="0"/>
                </a:lnTo>
                <a:lnTo>
                  <a:pt x="209550" y="0"/>
                </a:lnTo>
                <a:lnTo>
                  <a:pt x="152400" y="57150"/>
                </a:lnTo>
                <a:lnTo>
                  <a:pt x="0" y="57150"/>
                </a:lnTo>
                <a:close/>
              </a:path>
            </a:pathLst>
          </a:custGeom>
          <a:solidFill>
            <a:srgbClr val="E0EBF8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Freeform 89"/>
          <p:cNvSpPr/>
          <p:nvPr/>
        </p:nvSpPr>
        <p:spPr>
          <a:xfrm>
            <a:off x="4705350" y="3352800"/>
            <a:ext cx="57150" cy="209550"/>
          </a:xfrm>
          <a:custGeom>
            <a:avLst/>
            <a:gdLst/>
            <a:ahLst/>
            <a:cxnLst/>
            <a:rect l="l" t="t" r="r" b="b"/>
            <a:pathLst>
              <a:path w="57150" h="209550">
                <a:moveTo>
                  <a:pt x="0" y="57150"/>
                </a:moveTo>
                <a:lnTo>
                  <a:pt x="57150" y="0"/>
                </a:lnTo>
                <a:lnTo>
                  <a:pt x="57150" y="152400"/>
                </a:lnTo>
                <a:lnTo>
                  <a:pt x="0" y="209550"/>
                </a:lnTo>
                <a:lnTo>
                  <a:pt x="0" y="57150"/>
                </a:lnTo>
                <a:close/>
              </a:path>
            </a:pathLst>
          </a:custGeom>
          <a:solidFill>
            <a:srgbClr val="B2C9E6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705350" y="3409950"/>
            <a:ext cx="152400" cy="152400"/>
          </a:xfrm>
          <a:prstGeom prst="rect">
            <a:avLst/>
          </a:prstGeom>
          <a:solidFill>
            <a:srgbClr val="CFE8C4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Freeform 91"/>
          <p:cNvSpPr/>
          <p:nvPr/>
        </p:nvSpPr>
        <p:spPr>
          <a:xfrm>
            <a:off x="4705350" y="3352800"/>
            <a:ext cx="209550" cy="57150"/>
          </a:xfrm>
          <a:custGeom>
            <a:avLst/>
            <a:gdLst/>
            <a:ahLst/>
            <a:cxnLst/>
            <a:rect l="l" t="t" r="r" b="b"/>
            <a:pathLst>
              <a:path w="209550" h="57150">
                <a:moveTo>
                  <a:pt x="0" y="57150"/>
                </a:moveTo>
                <a:lnTo>
                  <a:pt x="57150" y="0"/>
                </a:lnTo>
                <a:lnTo>
                  <a:pt x="209550" y="0"/>
                </a:lnTo>
                <a:lnTo>
                  <a:pt x="152400" y="57150"/>
                </a:lnTo>
                <a:lnTo>
                  <a:pt x="0" y="57150"/>
                </a:lnTo>
                <a:close/>
              </a:path>
            </a:pathLst>
          </a:custGeom>
          <a:solidFill>
            <a:srgbClr val="E3F2DC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Freeform 92"/>
          <p:cNvSpPr/>
          <p:nvPr/>
        </p:nvSpPr>
        <p:spPr>
          <a:xfrm>
            <a:off x="4857750" y="3352800"/>
            <a:ext cx="57150" cy="209550"/>
          </a:xfrm>
          <a:custGeom>
            <a:avLst/>
            <a:gdLst/>
            <a:ahLst/>
            <a:cxnLst/>
            <a:rect l="l" t="t" r="r" b="b"/>
            <a:pathLst>
              <a:path w="57150" h="209550">
                <a:moveTo>
                  <a:pt x="0" y="57150"/>
                </a:moveTo>
                <a:lnTo>
                  <a:pt x="57150" y="0"/>
                </a:lnTo>
                <a:lnTo>
                  <a:pt x="57150" y="152400"/>
                </a:lnTo>
                <a:lnTo>
                  <a:pt x="0" y="209550"/>
                </a:lnTo>
                <a:lnTo>
                  <a:pt x="0" y="57150"/>
                </a:lnTo>
                <a:close/>
              </a:path>
            </a:pathLst>
          </a:custGeom>
          <a:solidFill>
            <a:srgbClr val="B6D7A8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400550" y="3657600"/>
            <a:ext cx="152400" cy="152400"/>
          </a:xfrm>
          <a:prstGeom prst="rect">
            <a:avLst/>
          </a:prstGeom>
          <a:solidFill>
            <a:srgbClr val="E53935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Freeform 94"/>
          <p:cNvSpPr/>
          <p:nvPr/>
        </p:nvSpPr>
        <p:spPr>
          <a:xfrm>
            <a:off x="4400550" y="3600450"/>
            <a:ext cx="209550" cy="57150"/>
          </a:xfrm>
          <a:custGeom>
            <a:avLst/>
            <a:gdLst/>
            <a:ahLst/>
            <a:cxnLst/>
            <a:rect l="l" t="t" r="r" b="b"/>
            <a:pathLst>
              <a:path w="209550" h="57150">
                <a:moveTo>
                  <a:pt x="0" y="57150"/>
                </a:moveTo>
                <a:lnTo>
                  <a:pt x="57150" y="0"/>
                </a:lnTo>
                <a:lnTo>
                  <a:pt x="209550" y="0"/>
                </a:lnTo>
                <a:lnTo>
                  <a:pt x="152400" y="57150"/>
                </a:lnTo>
                <a:lnTo>
                  <a:pt x="0" y="57150"/>
                </a:lnTo>
                <a:close/>
              </a:path>
            </a:pathLst>
          </a:custGeom>
          <a:solidFill>
            <a:srgbClr val="EF7A77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4552950" y="3600450"/>
            <a:ext cx="57150" cy="209550"/>
          </a:xfrm>
          <a:custGeom>
            <a:avLst/>
            <a:gdLst/>
            <a:ahLst/>
            <a:cxnLst/>
            <a:rect l="l" t="t" r="r" b="b"/>
            <a:pathLst>
              <a:path w="57150" h="209550">
                <a:moveTo>
                  <a:pt x="0" y="57150"/>
                </a:moveTo>
                <a:lnTo>
                  <a:pt x="57150" y="0"/>
                </a:lnTo>
                <a:lnTo>
                  <a:pt x="57150" y="152400"/>
                </a:lnTo>
                <a:lnTo>
                  <a:pt x="0" y="209550"/>
                </a:lnTo>
                <a:lnTo>
                  <a:pt x="0" y="57150"/>
                </a:lnTo>
                <a:close/>
              </a:path>
            </a:pathLst>
          </a:custGeom>
          <a:solidFill>
            <a:srgbClr val="B71C1C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4552950" y="3657600"/>
            <a:ext cx="152400" cy="152400"/>
          </a:xfrm>
          <a:prstGeom prst="rect">
            <a:avLst/>
          </a:prstGeom>
          <a:solidFill>
            <a:srgbClr val="43A047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Freeform 97"/>
          <p:cNvSpPr/>
          <p:nvPr/>
        </p:nvSpPr>
        <p:spPr>
          <a:xfrm>
            <a:off x="4552950" y="3600450"/>
            <a:ext cx="209550" cy="57150"/>
          </a:xfrm>
          <a:custGeom>
            <a:avLst/>
            <a:gdLst/>
            <a:ahLst/>
            <a:cxnLst/>
            <a:rect l="l" t="t" r="r" b="b"/>
            <a:pathLst>
              <a:path w="209550" h="57150">
                <a:moveTo>
                  <a:pt x="0" y="57150"/>
                </a:moveTo>
                <a:lnTo>
                  <a:pt x="57150" y="0"/>
                </a:lnTo>
                <a:lnTo>
                  <a:pt x="209550" y="0"/>
                </a:lnTo>
                <a:lnTo>
                  <a:pt x="152400" y="57150"/>
                </a:lnTo>
                <a:lnTo>
                  <a:pt x="0" y="57150"/>
                </a:lnTo>
                <a:close/>
              </a:path>
            </a:pathLst>
          </a:custGeom>
          <a:solidFill>
            <a:srgbClr val="7CC27F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Freeform 98"/>
          <p:cNvSpPr/>
          <p:nvPr/>
        </p:nvSpPr>
        <p:spPr>
          <a:xfrm>
            <a:off x="4705350" y="3600450"/>
            <a:ext cx="57150" cy="209550"/>
          </a:xfrm>
          <a:custGeom>
            <a:avLst/>
            <a:gdLst/>
            <a:ahLst/>
            <a:cxnLst/>
            <a:rect l="l" t="t" r="r" b="b"/>
            <a:pathLst>
              <a:path w="57150" h="209550">
                <a:moveTo>
                  <a:pt x="0" y="57150"/>
                </a:moveTo>
                <a:lnTo>
                  <a:pt x="57150" y="0"/>
                </a:lnTo>
                <a:lnTo>
                  <a:pt x="57150" y="152400"/>
                </a:lnTo>
                <a:lnTo>
                  <a:pt x="0" y="209550"/>
                </a:lnTo>
                <a:lnTo>
                  <a:pt x="0" y="57150"/>
                </a:lnTo>
                <a:close/>
              </a:path>
            </a:pathLst>
          </a:custGeom>
          <a:solidFill>
            <a:srgbClr val="2E7D32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4705350" y="3657600"/>
            <a:ext cx="152400" cy="152400"/>
          </a:xfrm>
          <a:prstGeom prst="rect">
            <a:avLst/>
          </a:prstGeom>
          <a:solidFill>
            <a:srgbClr val="1E88E5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Freeform 100"/>
          <p:cNvSpPr/>
          <p:nvPr/>
        </p:nvSpPr>
        <p:spPr>
          <a:xfrm>
            <a:off x="4705350" y="3600450"/>
            <a:ext cx="209550" cy="57150"/>
          </a:xfrm>
          <a:custGeom>
            <a:avLst/>
            <a:gdLst/>
            <a:ahLst/>
            <a:cxnLst/>
            <a:rect l="l" t="t" r="r" b="b"/>
            <a:pathLst>
              <a:path w="209550" h="57150">
                <a:moveTo>
                  <a:pt x="0" y="57150"/>
                </a:moveTo>
                <a:lnTo>
                  <a:pt x="57150" y="0"/>
                </a:lnTo>
                <a:lnTo>
                  <a:pt x="209550" y="0"/>
                </a:lnTo>
                <a:lnTo>
                  <a:pt x="152400" y="57150"/>
                </a:lnTo>
                <a:lnTo>
                  <a:pt x="0" y="57150"/>
                </a:lnTo>
                <a:close/>
              </a:path>
            </a:pathLst>
          </a:custGeom>
          <a:solidFill>
            <a:srgbClr val="64B1EF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Freeform 101"/>
          <p:cNvSpPr/>
          <p:nvPr/>
        </p:nvSpPr>
        <p:spPr>
          <a:xfrm>
            <a:off x="4857750" y="3600450"/>
            <a:ext cx="57150" cy="209550"/>
          </a:xfrm>
          <a:custGeom>
            <a:avLst/>
            <a:gdLst/>
            <a:ahLst/>
            <a:cxnLst/>
            <a:rect l="l" t="t" r="r" b="b"/>
            <a:pathLst>
              <a:path w="57150" h="209550">
                <a:moveTo>
                  <a:pt x="0" y="57150"/>
                </a:moveTo>
                <a:lnTo>
                  <a:pt x="57150" y="0"/>
                </a:lnTo>
                <a:lnTo>
                  <a:pt x="57150" y="152400"/>
                </a:lnTo>
                <a:lnTo>
                  <a:pt x="0" y="209550"/>
                </a:lnTo>
                <a:lnTo>
                  <a:pt x="0" y="57150"/>
                </a:lnTo>
                <a:close/>
              </a:path>
            </a:pathLst>
          </a:custGeom>
          <a:solidFill>
            <a:srgbClr val="1565C0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074414" y="3912108"/>
            <a:ext cx="1185672" cy="1800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  <a:latin typeface="Times New Roman"/>
              </a:rPr>
              <a:t>Point Prototypes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116514" y="4079272"/>
            <a:ext cx="1101471" cy="1478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62" b="0" i="0">
                <a:solidFill>
                  <a:srgbClr val="222222"/>
                </a:solidFill>
                <a:latin typeface="Times New Roman"/>
              </a:rPr>
              <a:t>P_point [N+1, 128]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144994" y="4222147"/>
            <a:ext cx="1044512" cy="1478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62" b="0" i="0">
                <a:solidFill>
                  <a:srgbClr val="C62828"/>
                </a:solidFill>
                <a:latin typeface="Times New Roman"/>
              </a:rPr>
              <a:t>no L2 norm (D-10)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4972050" y="3581400"/>
            <a:ext cx="1123950" cy="0"/>
          </a:xfrm>
          <a:prstGeom prst="line">
            <a:avLst/>
          </a:prstGeom>
          <a:ln w="1714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Freeform 106"/>
          <p:cNvSpPr/>
          <p:nvPr/>
        </p:nvSpPr>
        <p:spPr>
          <a:xfrm>
            <a:off x="5993130" y="3534728"/>
            <a:ext cx="102870" cy="93344"/>
          </a:xfrm>
          <a:custGeom>
            <a:avLst/>
            <a:gdLst/>
            <a:ahLst/>
            <a:cxnLst/>
            <a:rect l="l" t="t" r="r" b="b"/>
            <a:pathLst>
              <a:path w="102870" h="93344">
                <a:moveTo>
                  <a:pt x="102870" y="46672"/>
                </a:moveTo>
                <a:lnTo>
                  <a:pt x="0" y="93344"/>
                </a:lnTo>
                <a:lnTo>
                  <a:pt x="0" y="0"/>
                </a:lnTo>
                <a:lnTo>
                  <a:pt x="102870" y="46672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6115050" y="3409950"/>
            <a:ext cx="342900" cy="342900"/>
          </a:xfrm>
          <a:prstGeom prst="ellipse">
            <a:avLst/>
          </a:prstGeom>
          <a:solidFill>
            <a:srgbClr val="FFFFFF"/>
          </a:solidFill>
          <a:ln w="1714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Freeform 108"/>
          <p:cNvSpPr/>
          <p:nvPr/>
        </p:nvSpPr>
        <p:spPr>
          <a:xfrm>
            <a:off x="6172200" y="3581400"/>
            <a:ext cx="228600" cy="0"/>
          </a:xfrm>
          <a:custGeom>
            <a:avLst/>
            <a:gdLst/>
            <a:ahLst/>
            <a:cxnLst/>
            <a:rect l="l" t="t" r="r" b="b"/>
            <a:pathLst>
              <a:path w="228600" h="0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/>
          <a:ln w="190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Freeform 109"/>
          <p:cNvSpPr/>
          <p:nvPr/>
        </p:nvSpPr>
        <p:spPr>
          <a:xfrm>
            <a:off x="6286500" y="3467100"/>
            <a:ext cx="0" cy="228600"/>
          </a:xfrm>
          <a:custGeom>
            <a:avLst/>
            <a:gdLst/>
            <a:ahLst/>
            <a:cxnLst/>
            <a:rect l="l" t="t" r="r" b="b"/>
            <a:pathLst>
              <a:path w="0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/>
          <a:ln w="19050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6457950" y="3581400"/>
            <a:ext cx="495300" cy="0"/>
          </a:xfrm>
          <a:prstGeom prst="line">
            <a:avLst/>
          </a:prstGeom>
          <a:ln w="1714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Freeform 111"/>
          <p:cNvSpPr/>
          <p:nvPr/>
        </p:nvSpPr>
        <p:spPr>
          <a:xfrm>
            <a:off x="6850380" y="3534728"/>
            <a:ext cx="102870" cy="93344"/>
          </a:xfrm>
          <a:custGeom>
            <a:avLst/>
            <a:gdLst/>
            <a:ahLst/>
            <a:cxnLst/>
            <a:rect l="l" t="t" r="r" b="b"/>
            <a:pathLst>
              <a:path w="102870" h="93344">
                <a:moveTo>
                  <a:pt x="102870" y="46672"/>
                </a:moveTo>
                <a:lnTo>
                  <a:pt x="0" y="93344"/>
                </a:lnTo>
                <a:lnTo>
                  <a:pt x="0" y="0"/>
                </a:lnTo>
                <a:lnTo>
                  <a:pt x="102870" y="46672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624447" y="3054858"/>
            <a:ext cx="1324356" cy="18002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0" i="0">
                <a:solidFill>
                  <a:srgbClr val="222222"/>
                </a:solidFill>
                <a:latin typeface="Times New Roman"/>
              </a:rPr>
              <a:t>Initial Prototypes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029450" y="3409950"/>
            <a:ext cx="152400" cy="152400"/>
          </a:xfrm>
          <a:prstGeom prst="rect">
            <a:avLst/>
          </a:prstGeom>
          <a:solidFill>
            <a:srgbClr val="F7DCC0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Freeform 114"/>
          <p:cNvSpPr/>
          <p:nvPr/>
        </p:nvSpPr>
        <p:spPr>
          <a:xfrm>
            <a:off x="7029450" y="3352800"/>
            <a:ext cx="209550" cy="57150"/>
          </a:xfrm>
          <a:custGeom>
            <a:avLst/>
            <a:gdLst/>
            <a:ahLst/>
            <a:cxnLst/>
            <a:rect l="l" t="t" r="r" b="b"/>
            <a:pathLst>
              <a:path w="209550" h="57150">
                <a:moveTo>
                  <a:pt x="0" y="57150"/>
                </a:moveTo>
                <a:lnTo>
                  <a:pt x="57150" y="0"/>
                </a:lnTo>
                <a:lnTo>
                  <a:pt x="209550" y="0"/>
                </a:lnTo>
                <a:lnTo>
                  <a:pt x="152400" y="57150"/>
                </a:lnTo>
                <a:lnTo>
                  <a:pt x="0" y="57150"/>
                </a:lnTo>
                <a:close/>
              </a:path>
            </a:pathLst>
          </a:custGeom>
          <a:solidFill>
            <a:srgbClr val="FBEADB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Freeform 115"/>
          <p:cNvSpPr/>
          <p:nvPr/>
        </p:nvSpPr>
        <p:spPr>
          <a:xfrm>
            <a:off x="7181850" y="3352800"/>
            <a:ext cx="57150" cy="209550"/>
          </a:xfrm>
          <a:custGeom>
            <a:avLst/>
            <a:gdLst/>
            <a:ahLst/>
            <a:cxnLst/>
            <a:rect l="l" t="t" r="r" b="b"/>
            <a:pathLst>
              <a:path w="57150" h="209550">
                <a:moveTo>
                  <a:pt x="0" y="57150"/>
                </a:moveTo>
                <a:lnTo>
                  <a:pt x="57150" y="0"/>
                </a:lnTo>
                <a:lnTo>
                  <a:pt x="57150" y="152400"/>
                </a:lnTo>
                <a:lnTo>
                  <a:pt x="0" y="209550"/>
                </a:lnTo>
                <a:lnTo>
                  <a:pt x="0" y="57150"/>
                </a:lnTo>
                <a:close/>
              </a:path>
            </a:pathLst>
          </a:custGeom>
          <a:solidFill>
            <a:srgbClr val="E8C8A8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7181850" y="3409950"/>
            <a:ext cx="152400" cy="152400"/>
          </a:xfrm>
          <a:prstGeom prst="rect">
            <a:avLst/>
          </a:prstGeom>
          <a:solidFill>
            <a:srgbClr val="C9DCF2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7181850" y="3352800"/>
            <a:ext cx="209550" cy="57150"/>
          </a:xfrm>
          <a:custGeom>
            <a:avLst/>
            <a:gdLst/>
            <a:ahLst/>
            <a:cxnLst/>
            <a:rect l="l" t="t" r="r" b="b"/>
            <a:pathLst>
              <a:path w="209550" h="57150">
                <a:moveTo>
                  <a:pt x="0" y="57150"/>
                </a:moveTo>
                <a:lnTo>
                  <a:pt x="57150" y="0"/>
                </a:lnTo>
                <a:lnTo>
                  <a:pt x="209550" y="0"/>
                </a:lnTo>
                <a:lnTo>
                  <a:pt x="152400" y="57150"/>
                </a:lnTo>
                <a:lnTo>
                  <a:pt x="0" y="57150"/>
                </a:lnTo>
                <a:close/>
              </a:path>
            </a:pathLst>
          </a:custGeom>
          <a:solidFill>
            <a:srgbClr val="E0EBF8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7334250" y="3352800"/>
            <a:ext cx="57150" cy="209550"/>
          </a:xfrm>
          <a:custGeom>
            <a:avLst/>
            <a:gdLst/>
            <a:ahLst/>
            <a:cxnLst/>
            <a:rect l="l" t="t" r="r" b="b"/>
            <a:pathLst>
              <a:path w="57150" h="209550">
                <a:moveTo>
                  <a:pt x="0" y="57150"/>
                </a:moveTo>
                <a:lnTo>
                  <a:pt x="57150" y="0"/>
                </a:lnTo>
                <a:lnTo>
                  <a:pt x="57150" y="152400"/>
                </a:lnTo>
                <a:lnTo>
                  <a:pt x="0" y="209550"/>
                </a:lnTo>
                <a:lnTo>
                  <a:pt x="0" y="57150"/>
                </a:lnTo>
                <a:close/>
              </a:path>
            </a:pathLst>
          </a:custGeom>
          <a:solidFill>
            <a:srgbClr val="B2C9E6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7334250" y="3409950"/>
            <a:ext cx="152400" cy="152400"/>
          </a:xfrm>
          <a:prstGeom prst="rect">
            <a:avLst/>
          </a:prstGeom>
          <a:solidFill>
            <a:srgbClr val="CFE8C4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7334250" y="3352800"/>
            <a:ext cx="209550" cy="57150"/>
          </a:xfrm>
          <a:custGeom>
            <a:avLst/>
            <a:gdLst/>
            <a:ahLst/>
            <a:cxnLst/>
            <a:rect l="l" t="t" r="r" b="b"/>
            <a:pathLst>
              <a:path w="209550" h="57150">
                <a:moveTo>
                  <a:pt x="0" y="57150"/>
                </a:moveTo>
                <a:lnTo>
                  <a:pt x="57150" y="0"/>
                </a:lnTo>
                <a:lnTo>
                  <a:pt x="209550" y="0"/>
                </a:lnTo>
                <a:lnTo>
                  <a:pt x="152400" y="57150"/>
                </a:lnTo>
                <a:lnTo>
                  <a:pt x="0" y="57150"/>
                </a:lnTo>
                <a:close/>
              </a:path>
            </a:pathLst>
          </a:custGeom>
          <a:solidFill>
            <a:srgbClr val="E3F2DC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7486650" y="3352800"/>
            <a:ext cx="57150" cy="209550"/>
          </a:xfrm>
          <a:custGeom>
            <a:avLst/>
            <a:gdLst/>
            <a:ahLst/>
            <a:cxnLst/>
            <a:rect l="l" t="t" r="r" b="b"/>
            <a:pathLst>
              <a:path w="57150" h="209550">
                <a:moveTo>
                  <a:pt x="0" y="57150"/>
                </a:moveTo>
                <a:lnTo>
                  <a:pt x="57150" y="0"/>
                </a:lnTo>
                <a:lnTo>
                  <a:pt x="57150" y="152400"/>
                </a:lnTo>
                <a:lnTo>
                  <a:pt x="0" y="209550"/>
                </a:lnTo>
                <a:lnTo>
                  <a:pt x="0" y="57150"/>
                </a:lnTo>
                <a:close/>
              </a:path>
            </a:pathLst>
          </a:custGeom>
          <a:solidFill>
            <a:srgbClr val="B6D7A8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7029450" y="3657600"/>
            <a:ext cx="152400" cy="152400"/>
          </a:xfrm>
          <a:prstGeom prst="rect">
            <a:avLst/>
          </a:prstGeom>
          <a:solidFill>
            <a:srgbClr val="E53935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7029450" y="3600450"/>
            <a:ext cx="209550" cy="57150"/>
          </a:xfrm>
          <a:custGeom>
            <a:avLst/>
            <a:gdLst/>
            <a:ahLst/>
            <a:cxnLst/>
            <a:rect l="l" t="t" r="r" b="b"/>
            <a:pathLst>
              <a:path w="209550" h="57150">
                <a:moveTo>
                  <a:pt x="0" y="57150"/>
                </a:moveTo>
                <a:lnTo>
                  <a:pt x="57150" y="0"/>
                </a:lnTo>
                <a:lnTo>
                  <a:pt x="209550" y="0"/>
                </a:lnTo>
                <a:lnTo>
                  <a:pt x="152400" y="57150"/>
                </a:lnTo>
                <a:lnTo>
                  <a:pt x="0" y="57150"/>
                </a:lnTo>
                <a:close/>
              </a:path>
            </a:pathLst>
          </a:custGeom>
          <a:solidFill>
            <a:srgbClr val="EF7A77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7181850" y="3600450"/>
            <a:ext cx="57150" cy="209550"/>
          </a:xfrm>
          <a:custGeom>
            <a:avLst/>
            <a:gdLst/>
            <a:ahLst/>
            <a:cxnLst/>
            <a:rect l="l" t="t" r="r" b="b"/>
            <a:pathLst>
              <a:path w="57150" h="209550">
                <a:moveTo>
                  <a:pt x="0" y="57150"/>
                </a:moveTo>
                <a:lnTo>
                  <a:pt x="57150" y="0"/>
                </a:lnTo>
                <a:lnTo>
                  <a:pt x="57150" y="152400"/>
                </a:lnTo>
                <a:lnTo>
                  <a:pt x="0" y="209550"/>
                </a:lnTo>
                <a:lnTo>
                  <a:pt x="0" y="57150"/>
                </a:lnTo>
                <a:close/>
              </a:path>
            </a:pathLst>
          </a:custGeom>
          <a:solidFill>
            <a:srgbClr val="B71C1C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7181850" y="3657600"/>
            <a:ext cx="152400" cy="152400"/>
          </a:xfrm>
          <a:prstGeom prst="rect">
            <a:avLst/>
          </a:prstGeom>
          <a:solidFill>
            <a:srgbClr val="43A047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Freeform 126"/>
          <p:cNvSpPr/>
          <p:nvPr/>
        </p:nvSpPr>
        <p:spPr>
          <a:xfrm>
            <a:off x="7181850" y="3600450"/>
            <a:ext cx="209550" cy="57150"/>
          </a:xfrm>
          <a:custGeom>
            <a:avLst/>
            <a:gdLst/>
            <a:ahLst/>
            <a:cxnLst/>
            <a:rect l="l" t="t" r="r" b="b"/>
            <a:pathLst>
              <a:path w="209550" h="57150">
                <a:moveTo>
                  <a:pt x="0" y="57150"/>
                </a:moveTo>
                <a:lnTo>
                  <a:pt x="57150" y="0"/>
                </a:lnTo>
                <a:lnTo>
                  <a:pt x="209550" y="0"/>
                </a:lnTo>
                <a:lnTo>
                  <a:pt x="152400" y="57150"/>
                </a:lnTo>
                <a:lnTo>
                  <a:pt x="0" y="57150"/>
                </a:lnTo>
                <a:close/>
              </a:path>
            </a:pathLst>
          </a:custGeom>
          <a:solidFill>
            <a:srgbClr val="7CC27F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Freeform 127"/>
          <p:cNvSpPr/>
          <p:nvPr/>
        </p:nvSpPr>
        <p:spPr>
          <a:xfrm>
            <a:off x="7334250" y="3600450"/>
            <a:ext cx="57150" cy="209550"/>
          </a:xfrm>
          <a:custGeom>
            <a:avLst/>
            <a:gdLst/>
            <a:ahLst/>
            <a:cxnLst/>
            <a:rect l="l" t="t" r="r" b="b"/>
            <a:pathLst>
              <a:path w="57150" h="209550">
                <a:moveTo>
                  <a:pt x="0" y="57150"/>
                </a:moveTo>
                <a:lnTo>
                  <a:pt x="57150" y="0"/>
                </a:lnTo>
                <a:lnTo>
                  <a:pt x="57150" y="152400"/>
                </a:lnTo>
                <a:lnTo>
                  <a:pt x="0" y="209550"/>
                </a:lnTo>
                <a:lnTo>
                  <a:pt x="0" y="57150"/>
                </a:lnTo>
                <a:close/>
              </a:path>
            </a:pathLst>
          </a:custGeom>
          <a:solidFill>
            <a:srgbClr val="2E7D32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7334250" y="3657600"/>
            <a:ext cx="152400" cy="152400"/>
          </a:xfrm>
          <a:prstGeom prst="rect">
            <a:avLst/>
          </a:prstGeom>
          <a:solidFill>
            <a:srgbClr val="1E88E5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Freeform 129"/>
          <p:cNvSpPr/>
          <p:nvPr/>
        </p:nvSpPr>
        <p:spPr>
          <a:xfrm>
            <a:off x="7334250" y="3600450"/>
            <a:ext cx="209550" cy="57150"/>
          </a:xfrm>
          <a:custGeom>
            <a:avLst/>
            <a:gdLst/>
            <a:ahLst/>
            <a:cxnLst/>
            <a:rect l="l" t="t" r="r" b="b"/>
            <a:pathLst>
              <a:path w="209550" h="57150">
                <a:moveTo>
                  <a:pt x="0" y="57150"/>
                </a:moveTo>
                <a:lnTo>
                  <a:pt x="57150" y="0"/>
                </a:lnTo>
                <a:lnTo>
                  <a:pt x="209550" y="0"/>
                </a:lnTo>
                <a:lnTo>
                  <a:pt x="152400" y="57150"/>
                </a:lnTo>
                <a:lnTo>
                  <a:pt x="0" y="57150"/>
                </a:lnTo>
                <a:close/>
              </a:path>
            </a:pathLst>
          </a:custGeom>
          <a:solidFill>
            <a:srgbClr val="64B1EF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Freeform 130"/>
          <p:cNvSpPr/>
          <p:nvPr/>
        </p:nvSpPr>
        <p:spPr>
          <a:xfrm>
            <a:off x="7486650" y="3600450"/>
            <a:ext cx="57150" cy="209550"/>
          </a:xfrm>
          <a:custGeom>
            <a:avLst/>
            <a:gdLst/>
            <a:ahLst/>
            <a:cxnLst/>
            <a:rect l="l" t="t" r="r" b="b"/>
            <a:pathLst>
              <a:path w="57150" h="209550">
                <a:moveTo>
                  <a:pt x="0" y="57150"/>
                </a:moveTo>
                <a:lnTo>
                  <a:pt x="57150" y="0"/>
                </a:lnTo>
                <a:lnTo>
                  <a:pt x="57150" y="152400"/>
                </a:lnTo>
                <a:lnTo>
                  <a:pt x="0" y="209550"/>
                </a:lnTo>
                <a:lnTo>
                  <a:pt x="0" y="57150"/>
                </a:lnTo>
                <a:close/>
              </a:path>
            </a:pathLst>
          </a:custGeom>
          <a:solidFill>
            <a:srgbClr val="1565C0"/>
          </a:solidFill>
          <a:ln w="9525"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337173" y="3892677"/>
            <a:ext cx="1898904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222222"/>
                </a:solidFill>
                <a:latin typeface="Times New Roman"/>
              </a:rPr>
              <a:t>P^0 = P_point + P_modal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308693" y="4088797"/>
            <a:ext cx="1955864" cy="1478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62" b="0" i="0">
                <a:solidFill>
                  <a:srgbClr val="C62828"/>
                </a:solidFill>
                <a:latin typeface="Times New Roman"/>
              </a:rPr>
              <a:t>copied per query: [B_q, N+1, 128]</a:t>
            </a:r>
          </a:p>
        </p:txBody>
      </p:sp>
      <p:cxnSp>
        <p:nvCxnSpPr>
          <p:cNvPr id="134" name="Connector 133"/>
          <p:cNvCxnSpPr/>
          <p:nvPr/>
        </p:nvCxnSpPr>
        <p:spPr>
          <a:xfrm>
            <a:off x="7286625" y="4267200"/>
            <a:ext cx="0" cy="1428750"/>
          </a:xfrm>
          <a:prstGeom prst="line">
            <a:avLst/>
          </a:prstGeom>
          <a:ln w="1714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Freeform 134"/>
          <p:cNvSpPr/>
          <p:nvPr/>
        </p:nvSpPr>
        <p:spPr>
          <a:xfrm>
            <a:off x="7239952" y="5593080"/>
            <a:ext cx="93346" cy="102870"/>
          </a:xfrm>
          <a:custGeom>
            <a:avLst/>
            <a:gdLst/>
            <a:ahLst/>
            <a:cxnLst/>
            <a:rect l="l" t="t" r="r" b="b"/>
            <a:pathLst>
              <a:path w="93346" h="102870">
                <a:moveTo>
                  <a:pt x="46673" y="102870"/>
                </a:moveTo>
                <a:lnTo>
                  <a:pt x="0" y="0"/>
                </a:lnTo>
                <a:lnTo>
                  <a:pt x="93346" y="0"/>
                </a:lnTo>
                <a:lnTo>
                  <a:pt x="46673" y="10287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381000" y="5334000"/>
            <a:ext cx="1143000" cy="762000"/>
          </a:xfrm>
          <a:prstGeom prst="roundRect">
            <a:avLst>
              <a:gd name="adj" fmla="val 5000"/>
            </a:avLst>
          </a:prstGeom>
          <a:solidFill>
            <a:srgbClr val="D9C7A7"/>
          </a:solidFill>
          <a:ln w="9525">
            <a:solidFill>
              <a:srgbClr val="777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528066" y="5598414"/>
            <a:ext cx="848868" cy="1543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  <a:latin typeface="Times New Roman"/>
              </a:rPr>
              <a:t>support block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76656" y="5750814"/>
            <a:ext cx="551688" cy="1543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  <a:latin typeface="Times New Roman"/>
              </a:rPr>
              <a:t>2048 pts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05778" y="6140768"/>
            <a:ext cx="893445" cy="1928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25" b="0" i="0">
                <a:solidFill>
                  <a:srgbClr val="222222"/>
                </a:solidFill>
                <a:latin typeface="Times New Roman"/>
              </a:rPr>
              <a:t>Support X^s</a:t>
            </a:r>
          </a:p>
        </p:txBody>
      </p:sp>
      <p:sp>
        <p:nvSpPr>
          <p:cNvPr id="140" name="Rounded Rectangle 139"/>
          <p:cNvSpPr/>
          <p:nvPr/>
        </p:nvSpPr>
        <p:spPr>
          <a:xfrm>
            <a:off x="381000" y="6667500"/>
            <a:ext cx="1143000" cy="762000"/>
          </a:xfrm>
          <a:prstGeom prst="roundRect">
            <a:avLst>
              <a:gd name="adj" fmla="val 5000"/>
            </a:avLst>
          </a:prstGeom>
          <a:solidFill>
            <a:srgbClr val="CFCFCF"/>
          </a:solidFill>
          <a:ln w="9525">
            <a:solidFill>
              <a:srgbClr val="77777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587502" y="6931914"/>
            <a:ext cx="729996" cy="1543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  <a:latin typeface="Times New Roman"/>
              </a:rPr>
              <a:t>query block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76656" y="7084314"/>
            <a:ext cx="551688" cy="1543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444444"/>
                </a:solidFill>
                <a:latin typeface="Times New Roman"/>
              </a:rPr>
              <a:t>2048 pts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80072" y="7474268"/>
            <a:ext cx="744855" cy="1928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25" b="0" i="0">
                <a:solidFill>
                  <a:srgbClr val="222222"/>
                </a:solidFill>
                <a:latin typeface="Times New Roman"/>
              </a:rPr>
              <a:t>Query X^q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90500" y="7889272"/>
            <a:ext cx="2012823" cy="1478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2" b="0" i="0">
                <a:solidFill>
                  <a:srgbClr val="C62828"/>
                </a:solidFill>
                <a:latin typeface="Times New Roman"/>
              </a:rPr>
              <a:t>input: per-block min-max XYZ + rgb</a:t>
            </a:r>
          </a:p>
        </p:txBody>
      </p:sp>
      <p:cxnSp>
        <p:nvCxnSpPr>
          <p:cNvPr id="145" name="Connector 144"/>
          <p:cNvCxnSpPr/>
          <p:nvPr/>
        </p:nvCxnSpPr>
        <p:spPr>
          <a:xfrm>
            <a:off x="1524000" y="5715000"/>
            <a:ext cx="571500" cy="381000"/>
          </a:xfrm>
          <a:prstGeom prst="line">
            <a:avLst/>
          </a:prstGeom>
          <a:ln w="1714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" name="Freeform 145"/>
          <p:cNvSpPr/>
          <p:nvPr/>
        </p:nvSpPr>
        <p:spPr>
          <a:xfrm>
            <a:off x="1984058" y="6000750"/>
            <a:ext cx="111442" cy="95250"/>
          </a:xfrm>
          <a:custGeom>
            <a:avLst/>
            <a:gdLst/>
            <a:ahLst/>
            <a:cxnLst/>
            <a:rect l="l" t="t" r="r" b="b"/>
            <a:pathLst>
              <a:path w="111442" h="95250">
                <a:moveTo>
                  <a:pt x="111442" y="95250"/>
                </a:moveTo>
                <a:lnTo>
                  <a:pt x="0" y="77152"/>
                </a:lnTo>
                <a:lnTo>
                  <a:pt x="51434" y="0"/>
                </a:lnTo>
                <a:lnTo>
                  <a:pt x="111442" y="9525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7" name="Connector 146"/>
          <p:cNvCxnSpPr/>
          <p:nvPr/>
        </p:nvCxnSpPr>
        <p:spPr>
          <a:xfrm flipV="1">
            <a:off x="1524000" y="6781800"/>
            <a:ext cx="571500" cy="266700"/>
          </a:xfrm>
          <a:prstGeom prst="line">
            <a:avLst/>
          </a:prstGeom>
          <a:ln w="1714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Freeform 147"/>
          <p:cNvSpPr/>
          <p:nvPr/>
        </p:nvSpPr>
        <p:spPr>
          <a:xfrm>
            <a:off x="1983105" y="6781800"/>
            <a:ext cx="112395" cy="85725"/>
          </a:xfrm>
          <a:custGeom>
            <a:avLst/>
            <a:gdLst/>
            <a:ahLst/>
            <a:cxnLst/>
            <a:rect l="l" t="t" r="r" b="b"/>
            <a:pathLst>
              <a:path w="112395" h="85725">
                <a:moveTo>
                  <a:pt x="112395" y="0"/>
                </a:moveTo>
                <a:lnTo>
                  <a:pt x="39053" y="85725"/>
                </a:lnTo>
                <a:lnTo>
                  <a:pt x="0" y="1905"/>
                </a:lnTo>
                <a:lnTo>
                  <a:pt x="112395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Freeform 148"/>
          <p:cNvSpPr/>
          <p:nvPr/>
        </p:nvSpPr>
        <p:spPr>
          <a:xfrm>
            <a:off x="2143125" y="5429250"/>
            <a:ext cx="904875" cy="2047875"/>
          </a:xfrm>
          <a:custGeom>
            <a:avLst/>
            <a:gdLst/>
            <a:ahLst/>
            <a:cxnLst/>
            <a:rect l="l" t="t" r="r" b="b"/>
            <a:pathLst>
              <a:path w="904875" h="2047875">
                <a:moveTo>
                  <a:pt x="0" y="0"/>
                </a:moveTo>
                <a:lnTo>
                  <a:pt x="904875" y="381000"/>
                </a:lnTo>
                <a:lnTo>
                  <a:pt x="904875" y="1666875"/>
                </a:lnTo>
                <a:lnTo>
                  <a:pt x="0" y="2047875"/>
                </a:lnTo>
                <a:lnTo>
                  <a:pt x="0" y="0"/>
                </a:lnTo>
                <a:close/>
              </a:path>
            </a:pathLst>
          </a:custGeom>
          <a:solidFill>
            <a:srgbClr val="F5C19E"/>
          </a:solidFill>
          <a:ln w="1905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 rot="5400000">
            <a:off x="1879092" y="6321552"/>
            <a:ext cx="1423416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 i="0">
                <a:solidFill>
                  <a:srgbClr val="222222"/>
                </a:solidFill>
                <a:latin typeface="Times New Roman"/>
              </a:rPr>
              <a:t>Backbone (shared)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498949" y="8098822"/>
            <a:ext cx="2183702" cy="1478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62" b="0" i="0">
                <a:solidFill>
                  <a:srgbClr val="C62828"/>
                </a:solidFill>
                <a:latin typeface="Times New Roman"/>
              </a:rPr>
              <a:t>VIP-Seg encoder (Mamba), from scratch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527429" y="8241697"/>
            <a:ext cx="2126742" cy="1478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62" b="0" i="0">
                <a:solidFill>
                  <a:srgbClr val="C62828"/>
                </a:solidFill>
                <a:latin typeface="Times New Roman"/>
              </a:rPr>
              <a:t>900→196→128, ends in BN + ReLU (≥ 0)</a:t>
            </a:r>
          </a:p>
        </p:txBody>
      </p:sp>
      <p:cxnSp>
        <p:nvCxnSpPr>
          <p:cNvPr id="153" name="Connector 152"/>
          <p:cNvCxnSpPr/>
          <p:nvPr/>
        </p:nvCxnSpPr>
        <p:spPr>
          <a:xfrm>
            <a:off x="3048000" y="6096000"/>
            <a:ext cx="666750" cy="0"/>
          </a:xfrm>
          <a:prstGeom prst="line">
            <a:avLst/>
          </a:prstGeom>
          <a:ln w="1714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Freeform 153"/>
          <p:cNvSpPr/>
          <p:nvPr/>
        </p:nvSpPr>
        <p:spPr>
          <a:xfrm>
            <a:off x="3611880" y="6049328"/>
            <a:ext cx="102870" cy="93344"/>
          </a:xfrm>
          <a:custGeom>
            <a:avLst/>
            <a:gdLst/>
            <a:ahLst/>
            <a:cxnLst/>
            <a:rect l="l" t="t" r="r" b="b"/>
            <a:pathLst>
              <a:path w="102870" h="93344">
                <a:moveTo>
                  <a:pt x="102870" y="46672"/>
                </a:moveTo>
                <a:lnTo>
                  <a:pt x="0" y="93344"/>
                </a:lnTo>
                <a:lnTo>
                  <a:pt x="0" y="0"/>
                </a:lnTo>
                <a:lnTo>
                  <a:pt x="102870" y="46672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5" name="Connector 154"/>
          <p:cNvCxnSpPr/>
          <p:nvPr/>
        </p:nvCxnSpPr>
        <p:spPr>
          <a:xfrm>
            <a:off x="3048000" y="6858000"/>
            <a:ext cx="666750" cy="0"/>
          </a:xfrm>
          <a:prstGeom prst="line">
            <a:avLst/>
          </a:prstGeom>
          <a:ln w="1714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Freeform 155"/>
          <p:cNvSpPr/>
          <p:nvPr/>
        </p:nvSpPr>
        <p:spPr>
          <a:xfrm>
            <a:off x="3611880" y="6811328"/>
            <a:ext cx="102870" cy="93344"/>
          </a:xfrm>
          <a:custGeom>
            <a:avLst/>
            <a:gdLst/>
            <a:ahLst/>
            <a:cxnLst/>
            <a:rect l="l" t="t" r="r" b="b"/>
            <a:pathLst>
              <a:path w="102870" h="93344">
                <a:moveTo>
                  <a:pt x="102870" y="46672"/>
                </a:moveTo>
                <a:lnTo>
                  <a:pt x="0" y="93344"/>
                </a:lnTo>
                <a:lnTo>
                  <a:pt x="0" y="0"/>
                </a:lnTo>
                <a:lnTo>
                  <a:pt x="102870" y="46672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3790950" y="5905500"/>
            <a:ext cx="190500" cy="419100"/>
          </a:xfrm>
          <a:prstGeom prst="rect">
            <a:avLst/>
          </a:prstGeom>
          <a:solidFill>
            <a:srgbClr val="1E88E5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Freeform 157"/>
          <p:cNvSpPr/>
          <p:nvPr/>
        </p:nvSpPr>
        <p:spPr>
          <a:xfrm>
            <a:off x="3790950" y="5810250"/>
            <a:ext cx="285750" cy="95250"/>
          </a:xfrm>
          <a:custGeom>
            <a:avLst/>
            <a:gdLst/>
            <a:ahLst/>
            <a:cxnLst/>
            <a:rect l="l" t="t" r="r" b="b"/>
            <a:pathLst>
              <a:path w="285750" h="95250">
                <a:moveTo>
                  <a:pt x="0" y="95250"/>
                </a:moveTo>
                <a:lnTo>
                  <a:pt x="95250" y="0"/>
                </a:lnTo>
                <a:lnTo>
                  <a:pt x="285750" y="0"/>
                </a:lnTo>
                <a:lnTo>
                  <a:pt x="190500" y="95250"/>
                </a:lnTo>
                <a:lnTo>
                  <a:pt x="0" y="95250"/>
                </a:lnTo>
                <a:close/>
              </a:path>
            </a:pathLst>
          </a:custGeom>
          <a:solidFill>
            <a:srgbClr val="64B1EF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Freeform 158"/>
          <p:cNvSpPr/>
          <p:nvPr/>
        </p:nvSpPr>
        <p:spPr>
          <a:xfrm>
            <a:off x="3981450" y="5810250"/>
            <a:ext cx="95250" cy="514350"/>
          </a:xfrm>
          <a:custGeom>
            <a:avLst/>
            <a:gdLst/>
            <a:ahLst/>
            <a:cxnLst/>
            <a:rect l="l" t="t" r="r" b="b"/>
            <a:pathLst>
              <a:path w="95250" h="514350">
                <a:moveTo>
                  <a:pt x="0" y="95250"/>
                </a:moveTo>
                <a:lnTo>
                  <a:pt x="95250" y="0"/>
                </a:lnTo>
                <a:lnTo>
                  <a:pt x="95250" y="419100"/>
                </a:lnTo>
                <a:lnTo>
                  <a:pt x="0" y="514350"/>
                </a:lnTo>
                <a:lnTo>
                  <a:pt x="0" y="95250"/>
                </a:lnTo>
                <a:close/>
              </a:path>
            </a:pathLst>
          </a:custGeom>
          <a:solidFill>
            <a:srgbClr val="1565C0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3667125" y="5626036"/>
            <a:ext cx="328803" cy="2185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75" b="0" i="1">
                <a:solidFill>
                  <a:srgbClr val="222222"/>
                </a:solidFill>
                <a:latin typeface="Times New Roman"/>
              </a:rPr>
              <a:t>F^s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191000" y="6293930"/>
            <a:ext cx="838962" cy="1414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25" b="0" i="0">
                <a:solidFill>
                  <a:srgbClr val="222222"/>
                </a:solidFill>
                <a:latin typeface="Times New Roman"/>
              </a:rPr>
              <a:t>[N,K,2048,128]</a:t>
            </a:r>
          </a:p>
        </p:txBody>
      </p:sp>
      <p:sp>
        <p:nvSpPr>
          <p:cNvPr id="162" name="Rectangle 161"/>
          <p:cNvSpPr/>
          <p:nvPr/>
        </p:nvSpPr>
        <p:spPr>
          <a:xfrm>
            <a:off x="3790950" y="6724650"/>
            <a:ext cx="190500" cy="419100"/>
          </a:xfrm>
          <a:prstGeom prst="rect">
            <a:avLst/>
          </a:prstGeom>
          <a:solidFill>
            <a:srgbClr val="7CB342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Freeform 162"/>
          <p:cNvSpPr/>
          <p:nvPr/>
        </p:nvSpPr>
        <p:spPr>
          <a:xfrm>
            <a:off x="3790950" y="6629400"/>
            <a:ext cx="285750" cy="95250"/>
          </a:xfrm>
          <a:custGeom>
            <a:avLst/>
            <a:gdLst/>
            <a:ahLst/>
            <a:cxnLst/>
            <a:rect l="l" t="t" r="r" b="b"/>
            <a:pathLst>
              <a:path w="285750" h="95250">
                <a:moveTo>
                  <a:pt x="0" y="95250"/>
                </a:moveTo>
                <a:lnTo>
                  <a:pt x="95250" y="0"/>
                </a:lnTo>
                <a:lnTo>
                  <a:pt x="285750" y="0"/>
                </a:lnTo>
                <a:lnTo>
                  <a:pt x="190500" y="95250"/>
                </a:lnTo>
                <a:lnTo>
                  <a:pt x="0" y="95250"/>
                </a:lnTo>
                <a:close/>
              </a:path>
            </a:pathLst>
          </a:custGeom>
          <a:solidFill>
            <a:srgbClr val="AED581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Freeform 163"/>
          <p:cNvSpPr/>
          <p:nvPr/>
        </p:nvSpPr>
        <p:spPr>
          <a:xfrm>
            <a:off x="3981450" y="6629400"/>
            <a:ext cx="95250" cy="514350"/>
          </a:xfrm>
          <a:custGeom>
            <a:avLst/>
            <a:gdLst/>
            <a:ahLst/>
            <a:cxnLst/>
            <a:rect l="l" t="t" r="r" b="b"/>
            <a:pathLst>
              <a:path w="95250" h="514350">
                <a:moveTo>
                  <a:pt x="0" y="95250"/>
                </a:moveTo>
                <a:lnTo>
                  <a:pt x="95250" y="0"/>
                </a:lnTo>
                <a:lnTo>
                  <a:pt x="95250" y="419100"/>
                </a:lnTo>
                <a:lnTo>
                  <a:pt x="0" y="514350"/>
                </a:lnTo>
                <a:lnTo>
                  <a:pt x="0" y="95250"/>
                </a:lnTo>
                <a:close/>
              </a:path>
            </a:pathLst>
          </a:custGeom>
          <a:solidFill>
            <a:srgbClr val="558B2F"/>
          </a:solidFill>
          <a:ln w="9525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3667125" y="6445186"/>
            <a:ext cx="328803" cy="2185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275" b="0" i="1">
                <a:solidFill>
                  <a:srgbClr val="222222"/>
                </a:solidFill>
                <a:latin typeface="Times New Roman"/>
              </a:rPr>
              <a:t>F^q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4191000" y="7113080"/>
            <a:ext cx="838962" cy="1414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25" b="0" i="0">
                <a:solidFill>
                  <a:srgbClr val="222222"/>
                </a:solidFill>
                <a:latin typeface="Times New Roman"/>
              </a:rPr>
              <a:t>[B_q,2048,128]</a:t>
            </a:r>
          </a:p>
        </p:txBody>
      </p:sp>
      <p:sp>
        <p:nvSpPr>
          <p:cNvPr id="167" name="Freeform 166"/>
          <p:cNvSpPr/>
          <p:nvPr/>
        </p:nvSpPr>
        <p:spPr>
          <a:xfrm>
            <a:off x="3667125" y="3771900"/>
            <a:ext cx="257175" cy="2000250"/>
          </a:xfrm>
          <a:custGeom>
            <a:avLst/>
            <a:gdLst/>
            <a:ahLst/>
            <a:cxnLst/>
            <a:rect l="l" t="t" r="r" b="b"/>
            <a:pathLst>
              <a:path w="257175" h="2000250">
                <a:moveTo>
                  <a:pt x="257175" y="2000250"/>
                </a:moveTo>
                <a:lnTo>
                  <a:pt x="257175" y="990600"/>
                </a:lnTo>
                <a:lnTo>
                  <a:pt x="0" y="990600"/>
                </a:lnTo>
                <a:lnTo>
                  <a:pt x="0" y="0"/>
                </a:lnTo>
              </a:path>
            </a:pathLst>
          </a:custGeom>
          <a:noFill/>
          <a:ln w="17145">
            <a:solidFill>
              <a:srgbClr val="2222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Freeform 167"/>
          <p:cNvSpPr/>
          <p:nvPr/>
        </p:nvSpPr>
        <p:spPr>
          <a:xfrm>
            <a:off x="3620452" y="3771900"/>
            <a:ext cx="93346" cy="102870"/>
          </a:xfrm>
          <a:custGeom>
            <a:avLst/>
            <a:gdLst/>
            <a:ahLst/>
            <a:cxnLst/>
            <a:rect l="l" t="t" r="r" b="b"/>
            <a:pathLst>
              <a:path w="93346" h="102870">
                <a:moveTo>
                  <a:pt x="46673" y="0"/>
                </a:moveTo>
                <a:lnTo>
                  <a:pt x="93346" y="102870"/>
                </a:lnTo>
                <a:lnTo>
                  <a:pt x="0" y="102870"/>
                </a:lnTo>
                <a:lnTo>
                  <a:pt x="46673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9" name="Connector 168"/>
          <p:cNvCxnSpPr/>
          <p:nvPr/>
        </p:nvCxnSpPr>
        <p:spPr>
          <a:xfrm>
            <a:off x="4114800" y="6096000"/>
            <a:ext cx="1076325" cy="0"/>
          </a:xfrm>
          <a:prstGeom prst="line">
            <a:avLst/>
          </a:prstGeom>
          <a:ln w="1714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Freeform 169"/>
          <p:cNvSpPr/>
          <p:nvPr/>
        </p:nvSpPr>
        <p:spPr>
          <a:xfrm>
            <a:off x="5088255" y="6049328"/>
            <a:ext cx="102870" cy="93344"/>
          </a:xfrm>
          <a:custGeom>
            <a:avLst/>
            <a:gdLst/>
            <a:ahLst/>
            <a:cxnLst/>
            <a:rect l="l" t="t" r="r" b="b"/>
            <a:pathLst>
              <a:path w="102870" h="93344">
                <a:moveTo>
                  <a:pt x="102870" y="46672"/>
                </a:moveTo>
                <a:lnTo>
                  <a:pt x="0" y="93344"/>
                </a:lnTo>
                <a:lnTo>
                  <a:pt x="0" y="0"/>
                </a:lnTo>
                <a:lnTo>
                  <a:pt x="102870" y="46672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1" name="Connector 170"/>
          <p:cNvCxnSpPr/>
          <p:nvPr/>
        </p:nvCxnSpPr>
        <p:spPr>
          <a:xfrm>
            <a:off x="4114800" y="6905625"/>
            <a:ext cx="1076325" cy="0"/>
          </a:xfrm>
          <a:prstGeom prst="line">
            <a:avLst/>
          </a:prstGeom>
          <a:ln w="1714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Freeform 171"/>
          <p:cNvSpPr/>
          <p:nvPr/>
        </p:nvSpPr>
        <p:spPr>
          <a:xfrm>
            <a:off x="5088255" y="6858952"/>
            <a:ext cx="102870" cy="93346"/>
          </a:xfrm>
          <a:custGeom>
            <a:avLst/>
            <a:gdLst/>
            <a:ahLst/>
            <a:cxnLst/>
            <a:rect l="l" t="t" r="r" b="b"/>
            <a:pathLst>
              <a:path w="102870" h="93346">
                <a:moveTo>
                  <a:pt x="102870" y="46673"/>
                </a:moveTo>
                <a:lnTo>
                  <a:pt x="0" y="93346"/>
                </a:lnTo>
                <a:lnTo>
                  <a:pt x="0" y="0"/>
                </a:lnTo>
                <a:lnTo>
                  <a:pt x="102870" y="46673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ounded Rectangle 172"/>
          <p:cNvSpPr/>
          <p:nvPr/>
        </p:nvSpPr>
        <p:spPr>
          <a:xfrm>
            <a:off x="5238750" y="5715000"/>
            <a:ext cx="4572000" cy="1428750"/>
          </a:xfrm>
          <a:prstGeom prst="roundRect">
            <a:avLst>
              <a:gd name="adj" fmla="val 10666"/>
            </a:avLst>
          </a:prstGeom>
          <a:solidFill>
            <a:srgbClr val="D4DDE8"/>
          </a:solidFill>
          <a:ln w="14287">
            <a:solidFill>
              <a:srgbClr val="8AA0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ounded Rectangle 173"/>
          <p:cNvSpPr/>
          <p:nvPr/>
        </p:nvSpPr>
        <p:spPr>
          <a:xfrm>
            <a:off x="5429250" y="5953125"/>
            <a:ext cx="876300" cy="476250"/>
          </a:xfrm>
          <a:prstGeom prst="roundRect">
            <a:avLst>
              <a:gd name="adj" fmla="val 16000"/>
            </a:avLst>
          </a:prstGeom>
          <a:solidFill>
            <a:srgbClr val="FBF1C7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5618798" y="6083236"/>
            <a:ext cx="497205" cy="2185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75" b="0" i="1">
                <a:solidFill>
                  <a:srgbClr val="222222"/>
                </a:solidFill>
                <a:latin typeface="Times New Roman"/>
              </a:rPr>
              <a:t>EPPM₁</a:t>
            </a:r>
          </a:p>
        </p:txBody>
      </p:sp>
      <p:sp>
        <p:nvSpPr>
          <p:cNvPr id="176" name="Rounded Rectangle 175"/>
          <p:cNvSpPr/>
          <p:nvPr/>
        </p:nvSpPr>
        <p:spPr>
          <a:xfrm>
            <a:off x="6496050" y="5953125"/>
            <a:ext cx="876300" cy="476250"/>
          </a:xfrm>
          <a:prstGeom prst="roundRect">
            <a:avLst>
              <a:gd name="adj" fmla="val 16000"/>
            </a:avLst>
          </a:prstGeom>
          <a:solidFill>
            <a:srgbClr val="FBF1C7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6685598" y="6083236"/>
            <a:ext cx="497205" cy="2185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75" b="0" i="1">
                <a:solidFill>
                  <a:srgbClr val="222222"/>
                </a:solidFill>
                <a:latin typeface="Times New Roman"/>
              </a:rPr>
              <a:t>EPPM₂</a:t>
            </a:r>
          </a:p>
        </p:txBody>
      </p:sp>
      <p:sp>
        <p:nvSpPr>
          <p:cNvPr id="178" name="Rounded Rectangle 177"/>
          <p:cNvSpPr/>
          <p:nvPr/>
        </p:nvSpPr>
        <p:spPr>
          <a:xfrm>
            <a:off x="7562850" y="5953125"/>
            <a:ext cx="876300" cy="476250"/>
          </a:xfrm>
          <a:prstGeom prst="roundRect">
            <a:avLst>
              <a:gd name="adj" fmla="val 16000"/>
            </a:avLst>
          </a:prstGeom>
          <a:solidFill>
            <a:srgbClr val="FBF1C7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7752398" y="6083236"/>
            <a:ext cx="497205" cy="2185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75" b="0" i="1">
                <a:solidFill>
                  <a:srgbClr val="222222"/>
                </a:solidFill>
                <a:latin typeface="Times New Roman"/>
              </a:rPr>
              <a:t>EPPM₃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8629650" y="5953125"/>
            <a:ext cx="876300" cy="476250"/>
          </a:xfrm>
          <a:prstGeom prst="roundRect">
            <a:avLst>
              <a:gd name="adj" fmla="val 16000"/>
            </a:avLst>
          </a:prstGeom>
          <a:solidFill>
            <a:srgbClr val="FBF1C7"/>
          </a:solidFill>
          <a:ln w="9525">
            <a:solidFill>
              <a:srgbClr val="555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TextBox 180"/>
          <p:cNvSpPr txBox="1"/>
          <p:nvPr/>
        </p:nvSpPr>
        <p:spPr>
          <a:xfrm>
            <a:off x="8819198" y="6083236"/>
            <a:ext cx="497205" cy="2185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75" b="0" i="1">
                <a:solidFill>
                  <a:srgbClr val="222222"/>
                </a:solidFill>
                <a:latin typeface="Times New Roman"/>
              </a:rPr>
              <a:t>EPPM₄</a:t>
            </a:r>
          </a:p>
        </p:txBody>
      </p:sp>
      <p:cxnSp>
        <p:nvCxnSpPr>
          <p:cNvPr id="182" name="Connector 181"/>
          <p:cNvCxnSpPr/>
          <p:nvPr/>
        </p:nvCxnSpPr>
        <p:spPr>
          <a:xfrm>
            <a:off x="6305550" y="6191250"/>
            <a:ext cx="190500" cy="0"/>
          </a:xfrm>
          <a:prstGeom prst="line">
            <a:avLst/>
          </a:prstGeom>
          <a:ln w="952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3" name="Freeform 182"/>
          <p:cNvSpPr/>
          <p:nvPr/>
        </p:nvSpPr>
        <p:spPr>
          <a:xfrm>
            <a:off x="6400800" y="6148388"/>
            <a:ext cx="95250" cy="85724"/>
          </a:xfrm>
          <a:custGeom>
            <a:avLst/>
            <a:gdLst/>
            <a:ahLst/>
            <a:cxnLst/>
            <a:rect l="l" t="t" r="r" b="b"/>
            <a:pathLst>
              <a:path w="95250" h="85724">
                <a:moveTo>
                  <a:pt x="95250" y="42862"/>
                </a:moveTo>
                <a:lnTo>
                  <a:pt x="0" y="85724"/>
                </a:lnTo>
                <a:lnTo>
                  <a:pt x="0" y="0"/>
                </a:lnTo>
                <a:lnTo>
                  <a:pt x="95250" y="42862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4" name="Connector 183"/>
          <p:cNvCxnSpPr/>
          <p:nvPr/>
        </p:nvCxnSpPr>
        <p:spPr>
          <a:xfrm>
            <a:off x="7372350" y="6191250"/>
            <a:ext cx="190500" cy="0"/>
          </a:xfrm>
          <a:prstGeom prst="line">
            <a:avLst/>
          </a:prstGeom>
          <a:ln w="952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5" name="Freeform 184"/>
          <p:cNvSpPr/>
          <p:nvPr/>
        </p:nvSpPr>
        <p:spPr>
          <a:xfrm>
            <a:off x="7467600" y="6148388"/>
            <a:ext cx="95250" cy="85724"/>
          </a:xfrm>
          <a:custGeom>
            <a:avLst/>
            <a:gdLst/>
            <a:ahLst/>
            <a:cxnLst/>
            <a:rect l="l" t="t" r="r" b="b"/>
            <a:pathLst>
              <a:path w="95250" h="85724">
                <a:moveTo>
                  <a:pt x="95250" y="42862"/>
                </a:moveTo>
                <a:lnTo>
                  <a:pt x="0" y="85724"/>
                </a:lnTo>
                <a:lnTo>
                  <a:pt x="0" y="0"/>
                </a:lnTo>
                <a:lnTo>
                  <a:pt x="95250" y="42862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6" name="Connector 185"/>
          <p:cNvCxnSpPr/>
          <p:nvPr/>
        </p:nvCxnSpPr>
        <p:spPr>
          <a:xfrm>
            <a:off x="8439150" y="6191250"/>
            <a:ext cx="190500" cy="0"/>
          </a:xfrm>
          <a:prstGeom prst="line">
            <a:avLst/>
          </a:prstGeom>
          <a:ln w="952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7" name="Freeform 186"/>
          <p:cNvSpPr/>
          <p:nvPr/>
        </p:nvSpPr>
        <p:spPr>
          <a:xfrm>
            <a:off x="8534400" y="6148388"/>
            <a:ext cx="95250" cy="85724"/>
          </a:xfrm>
          <a:custGeom>
            <a:avLst/>
            <a:gdLst/>
            <a:ahLst/>
            <a:cxnLst/>
            <a:rect l="l" t="t" r="r" b="b"/>
            <a:pathLst>
              <a:path w="95250" h="85724">
                <a:moveTo>
                  <a:pt x="95250" y="42862"/>
                </a:moveTo>
                <a:lnTo>
                  <a:pt x="0" y="85724"/>
                </a:lnTo>
                <a:lnTo>
                  <a:pt x="0" y="0"/>
                </a:lnTo>
                <a:lnTo>
                  <a:pt x="95250" y="42862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5220652" y="6521768"/>
            <a:ext cx="4608195" cy="1928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25" b="1" i="0">
                <a:solidFill>
                  <a:srgbClr val="222222"/>
                </a:solidFill>
                <a:latin typeface="Times New Roman"/>
              </a:rPr>
              <a:t>Cascaded Entropy-Aware Purification (T = 4, separate weights)</a:t>
            </a:r>
          </a:p>
        </p:txBody>
      </p:sp>
      <p:sp>
        <p:nvSpPr>
          <p:cNvPr id="189" name="TextBox 188"/>
          <p:cNvSpPr txBox="1"/>
          <p:nvPr/>
        </p:nvSpPr>
        <p:spPr>
          <a:xfrm>
            <a:off x="5198364" y="6741414"/>
            <a:ext cx="4652772" cy="1543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C62828"/>
                </a:solidFill>
                <a:latin typeface="Times New Roman"/>
              </a:rPr>
              <a:t>each stage: P^t = LN(W_out ReLU(SE(w₀P_cross + w₁P_diffuse)·w_cls) + P^(t−1))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5436108" y="6903339"/>
            <a:ext cx="4177284" cy="1543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C62828"/>
                </a:solidFill>
                <a:latin typeface="Times New Roman"/>
              </a:rPr>
              <a:t>class information survives mainly through the residual P^(t−1) (D-19)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5238750" y="7315200"/>
            <a:ext cx="4572000" cy="1123950"/>
          </a:xfrm>
          <a:prstGeom prst="roundRect">
            <a:avLst>
              <a:gd name="adj" fmla="val 8474"/>
            </a:avLst>
          </a:prstGeom>
          <a:solidFill>
            <a:srgbClr val="FFFDF2"/>
          </a:solidFill>
          <a:ln w="9525">
            <a:solidFill>
              <a:srgbClr val="C9B45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5334000" y="7360348"/>
            <a:ext cx="1814703" cy="1671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75" b="1" i="0">
                <a:solidFill>
                  <a:srgbClr val="222222"/>
                </a:solidFill>
                <a:latin typeface="Times New Roman"/>
              </a:rPr>
              <a:t>inside EPPM_t (our reading)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5334000" y="7572375"/>
            <a:ext cx="1333500" cy="400050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5307616" y="7613047"/>
            <a:ext cx="1386268" cy="1478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62" b="0" i="0">
                <a:solidFill>
                  <a:srgbClr val="222222"/>
                </a:solidFill>
                <a:latin typeface="Times New Roman"/>
              </a:rPr>
              <a:t>Entropy gate on P^(t−1)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5222176" y="7755922"/>
            <a:ext cx="1557147" cy="1478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62" b="0" i="0">
                <a:solidFill>
                  <a:srgbClr val="C62828"/>
                </a:solidFill>
                <a:latin typeface="Times New Roman"/>
              </a:rPr>
              <a:t>H(σ(x)) per channel (D-02)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6781800" y="7572375"/>
            <a:ext cx="1428750" cy="400050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6689122" y="7613047"/>
            <a:ext cx="1614106" cy="1478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62" b="0" i="0">
                <a:solidFill>
                  <a:srgbClr val="222222"/>
                </a:solidFill>
                <a:latin typeface="Times New Roman"/>
              </a:rPr>
              <a:t>Cross-attn: A ∈ R^{128×128}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6831520" y="7755922"/>
            <a:ext cx="1329309" cy="1478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62" b="0" i="0">
                <a:solidFill>
                  <a:srgbClr val="C62828"/>
                </a:solidFill>
                <a:latin typeface="Times New Roman"/>
              </a:rPr>
              <a:t>channel×channel (D-01)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8324850" y="7572375"/>
            <a:ext cx="1390650" cy="400050"/>
          </a:xfrm>
          <a:prstGeom prst="roundRect">
            <a:avLst>
              <a:gd name="adj" fmla="val 11904"/>
            </a:avLst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8327041" y="7613047"/>
            <a:ext cx="1386268" cy="1478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62" b="0" i="0">
                <a:solidFill>
                  <a:srgbClr val="222222"/>
                </a:solidFill>
                <a:latin typeface="Times New Roman"/>
              </a:rPr>
              <a:t>Diffusion (τ = α = 0.5)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8384000" y="7755922"/>
            <a:ext cx="1272349" cy="1478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62" b="0" i="0">
                <a:solidFill>
                  <a:srgbClr val="C62828"/>
                </a:solidFill>
                <a:latin typeface="Times New Roman"/>
              </a:rPr>
              <a:t>no class index (D-14)</a:t>
            </a:r>
          </a:p>
        </p:txBody>
      </p:sp>
      <p:sp>
        <p:nvSpPr>
          <p:cNvPr id="202" name="Rounded Rectangle 201"/>
          <p:cNvSpPr/>
          <p:nvPr/>
        </p:nvSpPr>
        <p:spPr>
          <a:xfrm>
            <a:off x="5334000" y="8048625"/>
            <a:ext cx="4381500" cy="304800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9999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TextBox 202"/>
          <p:cNvSpPr txBox="1"/>
          <p:nvPr/>
        </p:nvSpPr>
        <p:spPr>
          <a:xfrm>
            <a:off x="4894993" y="8127397"/>
            <a:ext cx="5259515" cy="1478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62" b="0" i="0">
                <a:solidFill>
                  <a:srgbClr val="222222"/>
                </a:solidFill>
                <a:latin typeface="Times New Roman"/>
              </a:rPr>
              <a:t>Fusion softmax per query (D-11) → SE (r = 4) → × w_cls [0.8, 1, …] → W_out → + P^(t−1) → LN</a:t>
            </a:r>
          </a:p>
        </p:txBody>
      </p:sp>
      <p:cxnSp>
        <p:nvCxnSpPr>
          <p:cNvPr id="204" name="Connector 203"/>
          <p:cNvCxnSpPr/>
          <p:nvPr/>
        </p:nvCxnSpPr>
        <p:spPr>
          <a:xfrm>
            <a:off x="9810750" y="6286500"/>
            <a:ext cx="476250" cy="0"/>
          </a:xfrm>
          <a:prstGeom prst="line">
            <a:avLst/>
          </a:prstGeom>
          <a:ln w="1714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" name="Freeform 204"/>
          <p:cNvSpPr/>
          <p:nvPr/>
        </p:nvSpPr>
        <p:spPr>
          <a:xfrm>
            <a:off x="10184130" y="6239828"/>
            <a:ext cx="102870" cy="93344"/>
          </a:xfrm>
          <a:custGeom>
            <a:avLst/>
            <a:gdLst/>
            <a:ahLst/>
            <a:cxnLst/>
            <a:rect l="l" t="t" r="r" b="b"/>
            <a:pathLst>
              <a:path w="102870" h="93344">
                <a:moveTo>
                  <a:pt x="102870" y="46672"/>
                </a:moveTo>
                <a:lnTo>
                  <a:pt x="0" y="93344"/>
                </a:lnTo>
                <a:lnTo>
                  <a:pt x="0" y="0"/>
                </a:lnTo>
                <a:lnTo>
                  <a:pt x="102870" y="46672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ounded Rectangle 205"/>
          <p:cNvSpPr/>
          <p:nvPr/>
        </p:nvSpPr>
        <p:spPr>
          <a:xfrm>
            <a:off x="10334625" y="5334000"/>
            <a:ext cx="590550" cy="1809750"/>
          </a:xfrm>
          <a:prstGeom prst="roundRect">
            <a:avLst>
              <a:gd name="adj" fmla="val 9677"/>
            </a:avLst>
          </a:prstGeom>
          <a:solidFill>
            <a:srgbClr val="DCEBD3"/>
          </a:solidFill>
          <a:ln w="9525">
            <a:solidFill>
              <a:srgbClr val="6A8F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TextBox 206"/>
          <p:cNvSpPr txBox="1"/>
          <p:nvPr/>
        </p:nvSpPr>
        <p:spPr>
          <a:xfrm>
            <a:off x="10512552" y="5464302"/>
            <a:ext cx="234696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222222"/>
                </a:solidFill>
                <a:latin typeface="Times New Roman"/>
              </a:rPr>
              <a:t>P¹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10512552" y="5750052"/>
            <a:ext cx="234696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222222"/>
                </a:solidFill>
                <a:latin typeface="Times New Roman"/>
              </a:rPr>
              <a:t>P²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0512552" y="6035802"/>
            <a:ext cx="234696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222222"/>
                </a:solidFill>
                <a:latin typeface="Times New Roman"/>
              </a:rPr>
              <a:t>P³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0512552" y="6321552"/>
            <a:ext cx="234696" cy="2057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00" b="0" i="1">
                <a:solidFill>
                  <a:srgbClr val="222222"/>
                </a:solidFill>
                <a:latin typeface="Times New Roman"/>
              </a:rPr>
              <a:t>P⁴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10269855" y="6627495"/>
            <a:ext cx="720090" cy="1285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50" b="0" i="0">
                <a:solidFill>
                  <a:srgbClr val="222222"/>
                </a:solidFill>
                <a:latin typeface="Times New Roman"/>
              </a:rPr>
              <a:t>[B_q,N+1,128]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10227754" y="6832187"/>
            <a:ext cx="804291" cy="1350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87" b="0" i="0">
                <a:solidFill>
                  <a:srgbClr val="C62828"/>
                </a:solidFill>
                <a:latin typeface="Times New Roman"/>
              </a:rPr>
              <a:t>L^t = F^q P^tᵀ</a:t>
            </a:r>
          </a:p>
        </p:txBody>
      </p:sp>
      <p:cxnSp>
        <p:nvCxnSpPr>
          <p:cNvPr id="213" name="Connector 212"/>
          <p:cNvCxnSpPr/>
          <p:nvPr/>
        </p:nvCxnSpPr>
        <p:spPr>
          <a:xfrm flipV="1">
            <a:off x="10629900" y="4667250"/>
            <a:ext cx="0" cy="666750"/>
          </a:xfrm>
          <a:prstGeom prst="line">
            <a:avLst/>
          </a:prstGeom>
          <a:ln w="1714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Freeform 213"/>
          <p:cNvSpPr/>
          <p:nvPr/>
        </p:nvSpPr>
        <p:spPr>
          <a:xfrm>
            <a:off x="10583228" y="4667250"/>
            <a:ext cx="93344" cy="102870"/>
          </a:xfrm>
          <a:custGeom>
            <a:avLst/>
            <a:gdLst/>
            <a:ahLst/>
            <a:cxnLst/>
            <a:rect l="l" t="t" r="r" b="b"/>
            <a:pathLst>
              <a:path w="93344" h="102870">
                <a:moveTo>
                  <a:pt x="46672" y="0"/>
                </a:moveTo>
                <a:lnTo>
                  <a:pt x="93344" y="102870"/>
                </a:lnTo>
                <a:lnTo>
                  <a:pt x="0" y="102870"/>
                </a:lnTo>
                <a:lnTo>
                  <a:pt x="46672" y="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ounded Rectangle 214"/>
          <p:cNvSpPr/>
          <p:nvPr/>
        </p:nvSpPr>
        <p:spPr>
          <a:xfrm>
            <a:off x="9906000" y="3905250"/>
            <a:ext cx="2000250" cy="714375"/>
          </a:xfrm>
          <a:prstGeom prst="roundRect">
            <a:avLst>
              <a:gd name="adj" fmla="val 13333"/>
            </a:avLst>
          </a:prstGeom>
          <a:solidFill>
            <a:srgbClr val="F0B7EF"/>
          </a:solidFill>
          <a:ln w="19050">
            <a:solidFill>
              <a:srgbClr val="7A2A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10310812" y="3997642"/>
            <a:ext cx="1190625" cy="1928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25" b="0" i="0">
                <a:solidFill>
                  <a:srgbClr val="222222"/>
                </a:solidFill>
                <a:latin typeface="Times New Roman"/>
              </a:rPr>
              <a:t>Attention-based</a:t>
            </a:r>
          </a:p>
        </p:txBody>
      </p:sp>
      <p:sp>
        <p:nvSpPr>
          <p:cNvPr id="217" name="TextBox 216"/>
          <p:cNvSpPr txBox="1"/>
          <p:nvPr/>
        </p:nvSpPr>
        <p:spPr>
          <a:xfrm>
            <a:off x="10310812" y="4169092"/>
            <a:ext cx="1190625" cy="19288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25" b="0" i="0">
                <a:solidFill>
                  <a:srgbClr val="222222"/>
                </a:solidFill>
                <a:latin typeface="Times New Roman"/>
              </a:rPr>
              <a:t>Dynamic Routing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9832848" y="4398454"/>
            <a:ext cx="2146554" cy="1414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25" b="0" i="0">
                <a:solidFill>
                  <a:srgbClr val="222222"/>
                </a:solidFill>
                <a:latin typeface="Times New Roman"/>
              </a:rPr>
              <a:t>w = softmax(W_g AvgPool(F^q)), no bias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11191875" y="4936522"/>
            <a:ext cx="1614106" cy="1478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2" b="0" i="0">
                <a:solidFill>
                  <a:srgbClr val="C62828"/>
                </a:solidFill>
                <a:latin typeface="Times New Roman"/>
              </a:rPr>
              <a:t>weights the 4 stage LOGITS: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11191875" y="5079397"/>
            <a:ext cx="1158430" cy="1478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2" b="0" i="0">
                <a:solidFill>
                  <a:srgbClr val="C62828"/>
                </a:solidFill>
                <a:latin typeface="Times New Roman"/>
              </a:rPr>
              <a:t>L_final = Σ w_t L^t</a:t>
            </a:r>
          </a:p>
        </p:txBody>
      </p:sp>
      <p:sp>
        <p:nvSpPr>
          <p:cNvPr id="221" name="Freeform 220"/>
          <p:cNvSpPr/>
          <p:nvPr/>
        </p:nvSpPr>
        <p:spPr>
          <a:xfrm>
            <a:off x="4114800" y="4657725"/>
            <a:ext cx="6981825" cy="3857625"/>
          </a:xfrm>
          <a:custGeom>
            <a:avLst/>
            <a:gdLst/>
            <a:ahLst/>
            <a:cxnLst/>
            <a:rect l="l" t="t" r="r" b="b"/>
            <a:pathLst>
              <a:path w="6981825" h="3857625">
                <a:moveTo>
                  <a:pt x="0" y="2371725"/>
                </a:moveTo>
                <a:lnTo>
                  <a:pt x="0" y="3857625"/>
                </a:lnTo>
                <a:lnTo>
                  <a:pt x="6981825" y="3857625"/>
                </a:lnTo>
                <a:lnTo>
                  <a:pt x="6981825" y="0"/>
                </a:lnTo>
              </a:path>
            </a:pathLst>
          </a:custGeom>
          <a:noFill/>
          <a:ln w="11429">
            <a:solidFill>
              <a:srgbClr val="99999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Freeform 221"/>
          <p:cNvSpPr/>
          <p:nvPr/>
        </p:nvSpPr>
        <p:spPr>
          <a:xfrm>
            <a:off x="11053762" y="4657725"/>
            <a:ext cx="85726" cy="95250"/>
          </a:xfrm>
          <a:custGeom>
            <a:avLst/>
            <a:gdLst/>
            <a:ahLst/>
            <a:cxnLst/>
            <a:rect l="l" t="t" r="r" b="b"/>
            <a:pathLst>
              <a:path w="85726" h="95250">
                <a:moveTo>
                  <a:pt x="42863" y="0"/>
                </a:moveTo>
                <a:lnTo>
                  <a:pt x="85726" y="95250"/>
                </a:lnTo>
                <a:lnTo>
                  <a:pt x="0" y="95250"/>
                </a:lnTo>
                <a:lnTo>
                  <a:pt x="42863" y="0"/>
                </a:lnTo>
                <a:close/>
              </a:path>
            </a:pathLst>
          </a:custGeom>
          <a:solidFill>
            <a:srgbClr val="AAAAA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TextBox 222"/>
          <p:cNvSpPr txBox="1"/>
          <p:nvPr/>
        </p:nvSpPr>
        <p:spPr>
          <a:xfrm>
            <a:off x="9953625" y="8370380"/>
            <a:ext cx="1165860" cy="14144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25" b="0" i="0">
                <a:solidFill>
                  <a:srgbClr val="777777"/>
                </a:solidFill>
                <a:latin typeface="Times New Roman"/>
              </a:rPr>
              <a:t>F^q → AvgPool (ADRM)</a:t>
            </a:r>
          </a:p>
        </p:txBody>
      </p:sp>
      <p:cxnSp>
        <p:nvCxnSpPr>
          <p:cNvPr id="224" name="Connector 223"/>
          <p:cNvCxnSpPr/>
          <p:nvPr/>
        </p:nvCxnSpPr>
        <p:spPr>
          <a:xfrm>
            <a:off x="11906250" y="4048125"/>
            <a:ext cx="1143000" cy="0"/>
          </a:xfrm>
          <a:prstGeom prst="line">
            <a:avLst/>
          </a:prstGeom>
          <a:ln w="1714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5" name="Freeform 224"/>
          <p:cNvSpPr/>
          <p:nvPr/>
        </p:nvSpPr>
        <p:spPr>
          <a:xfrm>
            <a:off x="12946380" y="4001452"/>
            <a:ext cx="102870" cy="93346"/>
          </a:xfrm>
          <a:custGeom>
            <a:avLst/>
            <a:gdLst/>
            <a:ahLst/>
            <a:cxnLst/>
            <a:rect l="l" t="t" r="r" b="b"/>
            <a:pathLst>
              <a:path w="102870" h="93346">
                <a:moveTo>
                  <a:pt x="102870" y="46673"/>
                </a:moveTo>
                <a:lnTo>
                  <a:pt x="0" y="93346"/>
                </a:lnTo>
                <a:lnTo>
                  <a:pt x="0" y="0"/>
                </a:lnTo>
                <a:lnTo>
                  <a:pt x="102870" y="46673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13125450" y="3825621"/>
            <a:ext cx="190500" cy="23145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222222"/>
                </a:solidFill>
                <a:latin typeface="Times New Roman"/>
              </a:rPr>
              <a:t>ℒ</a:t>
            </a:r>
          </a:p>
        </p:txBody>
      </p:sp>
      <p:sp>
        <p:nvSpPr>
          <p:cNvPr id="227" name="TextBox 226"/>
          <p:cNvSpPr txBox="1"/>
          <p:nvPr/>
        </p:nvSpPr>
        <p:spPr>
          <a:xfrm>
            <a:off x="13239750" y="3912298"/>
            <a:ext cx="269367" cy="1671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75" b="0" i="1">
                <a:solidFill>
                  <a:srgbClr val="222222"/>
                </a:solidFill>
                <a:latin typeface="Times New Roman"/>
              </a:rPr>
              <a:t>seg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13125450" y="4117372"/>
            <a:ext cx="1671066" cy="1478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2" b="0" i="0">
                <a:solidFill>
                  <a:srgbClr val="C62828"/>
                </a:solidFill>
                <a:latin typeface="Times New Roman"/>
              </a:rPr>
              <a:t>CE(L_final, Y^q), unweighted</a:t>
            </a:r>
          </a:p>
        </p:txBody>
      </p:sp>
      <p:sp>
        <p:nvSpPr>
          <p:cNvPr id="229" name="TextBox 228"/>
          <p:cNvSpPr txBox="1"/>
          <p:nvPr/>
        </p:nvSpPr>
        <p:spPr>
          <a:xfrm>
            <a:off x="13125450" y="4269772"/>
            <a:ext cx="1784985" cy="1478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62" b="0" i="0">
                <a:solidFill>
                  <a:srgbClr val="C62828"/>
                </a:solidFill>
                <a:latin typeface="Times New Roman"/>
              </a:rPr>
              <a:t>ℒ_total = ℒ_seg + 1.0 · ℒ_GMMN</a:t>
            </a:r>
          </a:p>
        </p:txBody>
      </p:sp>
      <p:cxnSp>
        <p:nvCxnSpPr>
          <p:cNvPr id="230" name="Connector 229"/>
          <p:cNvCxnSpPr/>
          <p:nvPr/>
        </p:nvCxnSpPr>
        <p:spPr>
          <a:xfrm>
            <a:off x="12573000" y="4048125"/>
            <a:ext cx="0" cy="1285875"/>
          </a:xfrm>
          <a:prstGeom prst="line">
            <a:avLst/>
          </a:prstGeom>
          <a:ln w="17145">
            <a:solidFill>
              <a:srgbClr val="2222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1" name="Freeform 230"/>
          <p:cNvSpPr/>
          <p:nvPr/>
        </p:nvSpPr>
        <p:spPr>
          <a:xfrm>
            <a:off x="12526328" y="5231130"/>
            <a:ext cx="93344" cy="102870"/>
          </a:xfrm>
          <a:custGeom>
            <a:avLst/>
            <a:gdLst/>
            <a:ahLst/>
            <a:cxnLst/>
            <a:rect l="l" t="t" r="r" b="b"/>
            <a:pathLst>
              <a:path w="93344" h="102870">
                <a:moveTo>
                  <a:pt x="46672" y="102870"/>
                </a:moveTo>
                <a:lnTo>
                  <a:pt x="0" y="0"/>
                </a:lnTo>
                <a:lnTo>
                  <a:pt x="93344" y="0"/>
                </a:lnTo>
                <a:lnTo>
                  <a:pt x="46672" y="102870"/>
                </a:lnTo>
                <a:close/>
              </a:path>
            </a:pathLst>
          </a:custGeom>
          <a:solidFill>
            <a:srgbClr val="2222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11906250" y="5381625"/>
            <a:ext cx="1619250" cy="11430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12020550" y="5505450"/>
            <a:ext cx="381000" cy="9048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12077700" y="6096000"/>
            <a:ext cx="285750" cy="171450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12954000" y="5981700"/>
            <a:ext cx="323850" cy="247650"/>
          </a:xfrm>
          <a:prstGeom prst="rect">
            <a:avLst/>
          </a:prstGeom>
          <a:solidFill>
            <a:srgbClr val="E539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11541062" y="6597586"/>
            <a:ext cx="2349627" cy="21859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275" b="0" i="0">
                <a:solidFill>
                  <a:srgbClr val="222222"/>
                </a:solidFill>
                <a:latin typeface="Times New Roman"/>
              </a:rPr>
              <a:t>Output Ŷ^q = argmax L_final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12364498" y="6822472"/>
            <a:ext cx="702754" cy="1478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862" b="0" i="0">
                <a:solidFill>
                  <a:srgbClr val="555555"/>
                </a:solidFill>
                <a:latin typeface="Times New Roman"/>
              </a:rPr>
              <a:t>(schematic)</a:t>
            </a:r>
          </a:p>
        </p:txBody>
      </p:sp>
      <p:sp>
        <p:nvSpPr>
          <p:cNvPr id="238" name="Rounded Rectangle 237"/>
          <p:cNvSpPr/>
          <p:nvPr/>
        </p:nvSpPr>
        <p:spPr>
          <a:xfrm>
            <a:off x="11239500" y="7334250"/>
            <a:ext cx="3810000" cy="1104900"/>
          </a:xfrm>
          <a:prstGeom prst="roundRect">
            <a:avLst>
              <a:gd name="adj" fmla="val 6896"/>
            </a:avLst>
          </a:prstGeom>
          <a:solidFill>
            <a:srgbClr val="F7F7F7"/>
          </a:solidFill>
          <a:ln w="9525">
            <a:solidFill>
              <a:srgbClr val="BBBB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TextBox 238"/>
          <p:cNvSpPr txBox="1"/>
          <p:nvPr/>
        </p:nvSpPr>
        <p:spPr>
          <a:xfrm>
            <a:off x="11528870" y="7398448"/>
            <a:ext cx="3231261" cy="16716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975" b="1" i="0">
                <a:solidFill>
                  <a:srgbClr val="222222"/>
                </a:solidFill>
                <a:latin typeface="Times New Roman"/>
              </a:rPr>
              <a:t>Table 4 rows, S3DIS S0, 2-way 1-shot (mIoU, best)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11382375" y="7598664"/>
            <a:ext cx="1740408" cy="1543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Times New Roman"/>
              </a:rPr>
              <a:t>Baseline 49.08 (paper 82.72)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11382375" y="7751064"/>
            <a:ext cx="1205484" cy="1543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Times New Roman"/>
              </a:rPr>
              <a:t>+ LMA 49.65 (83.98)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11382375" y="7903464"/>
            <a:ext cx="2215896" cy="1543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Times New Roman"/>
              </a:rPr>
              <a:t>+ Entropy Gate, T = 1: 56.72 (85.34)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11382375" y="8055864"/>
            <a:ext cx="1918716" cy="1543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Times New Roman"/>
              </a:rPr>
              <a:t>+ Cascade, T = 4: 56.55 (87.89)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11382375" y="8208264"/>
            <a:ext cx="2097024" cy="15430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222222"/>
                </a:solidFill>
                <a:latin typeface="Times New Roman"/>
              </a:rPr>
              <a:t>+ ADRM, this figure: 57.15 (88.53)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